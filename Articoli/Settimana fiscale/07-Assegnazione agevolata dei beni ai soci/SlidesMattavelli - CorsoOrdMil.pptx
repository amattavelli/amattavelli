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1686" r:id="rId2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74CB5F-BBF8-4461-B2DC-6AFFE457475C}" v="2" dt="2025-03-11T18:50:08.64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2004" y="3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D86DB5-C394-4E19-A82F-17412100B410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351101A5-4542-4815-A7D3-C030E9C6CF59}">
      <dgm:prSet phldrT="[Testo]"/>
      <dgm:spPr/>
      <dgm:t>
        <a:bodyPr/>
        <a:lstStyle/>
        <a:p>
          <a:r>
            <a:rPr lang="it-IT" spc="-20" dirty="0"/>
            <a:t>Valore</a:t>
          </a:r>
          <a:r>
            <a:rPr lang="it-IT" spc="-40" dirty="0"/>
            <a:t> </a:t>
          </a:r>
          <a:r>
            <a:rPr lang="it-IT" dirty="0"/>
            <a:t>fiscale</a:t>
          </a:r>
          <a:r>
            <a:rPr lang="it-IT" spc="-55" dirty="0"/>
            <a:t> </a:t>
          </a:r>
          <a:r>
            <a:rPr lang="it-IT" spc="-20" dirty="0"/>
            <a:t>(VF) </a:t>
          </a:r>
          <a:endParaRPr lang="it-IT" dirty="0"/>
        </a:p>
      </dgm:t>
    </dgm:pt>
    <dgm:pt modelId="{996AC710-4998-467F-A154-DBC6E99189AC}" type="parTrans" cxnId="{CDF005EF-0654-4144-A86B-99183ACE5250}">
      <dgm:prSet/>
      <dgm:spPr/>
      <dgm:t>
        <a:bodyPr/>
        <a:lstStyle/>
        <a:p>
          <a:endParaRPr lang="it-IT"/>
        </a:p>
      </dgm:t>
    </dgm:pt>
    <dgm:pt modelId="{6EEE0C26-C69E-479A-B746-A3AEA2A8D2BB}" type="sibTrans" cxnId="{CDF005EF-0654-4144-A86B-99183ACE5250}">
      <dgm:prSet/>
      <dgm:spPr/>
      <dgm:t>
        <a:bodyPr/>
        <a:lstStyle/>
        <a:p>
          <a:endParaRPr lang="it-IT"/>
        </a:p>
      </dgm:t>
    </dgm:pt>
    <dgm:pt modelId="{18C7D180-FC42-43F7-9D10-4DBCEE90EA6F}">
      <dgm:prSet phldrT="[Testo]"/>
      <dgm:spPr/>
      <dgm:t>
        <a:bodyPr/>
        <a:lstStyle/>
        <a:p>
          <a:r>
            <a:rPr lang="it-IT" spc="-20" dirty="0"/>
            <a:t>Valore</a:t>
          </a:r>
          <a:r>
            <a:rPr lang="it-IT" spc="-35" dirty="0"/>
            <a:t> </a:t>
          </a:r>
          <a:r>
            <a:rPr lang="it-IT" spc="-10" dirty="0"/>
            <a:t>Catastale</a:t>
          </a:r>
          <a:r>
            <a:rPr lang="it-IT" spc="-45" dirty="0"/>
            <a:t> </a:t>
          </a:r>
          <a:r>
            <a:rPr lang="it-IT" spc="-20" dirty="0"/>
            <a:t>(VC)</a:t>
          </a:r>
          <a:endParaRPr lang="it-IT" dirty="0"/>
        </a:p>
      </dgm:t>
    </dgm:pt>
    <dgm:pt modelId="{07C9CED7-1BF6-40FC-8973-DF36D8E3496D}" type="parTrans" cxnId="{E6BE8A41-2447-494C-8403-902C811714C9}">
      <dgm:prSet/>
      <dgm:spPr/>
      <dgm:t>
        <a:bodyPr/>
        <a:lstStyle/>
        <a:p>
          <a:endParaRPr lang="it-IT"/>
        </a:p>
      </dgm:t>
    </dgm:pt>
    <dgm:pt modelId="{C934A091-178A-4262-B5C2-37C155355B1F}" type="sibTrans" cxnId="{E6BE8A41-2447-494C-8403-902C811714C9}">
      <dgm:prSet/>
      <dgm:spPr/>
      <dgm:t>
        <a:bodyPr/>
        <a:lstStyle/>
        <a:p>
          <a:endParaRPr lang="it-IT"/>
        </a:p>
      </dgm:t>
    </dgm:pt>
    <dgm:pt modelId="{5A9AF494-CBCD-4152-8C9A-16B29312CE20}">
      <dgm:prSet phldrT="[Testo]"/>
      <dgm:spPr/>
      <dgm:t>
        <a:bodyPr/>
        <a:lstStyle/>
        <a:p>
          <a:r>
            <a:rPr lang="it-IT" dirty="0"/>
            <a:t>Quota</a:t>
          </a:r>
          <a:r>
            <a:rPr lang="it-IT" spc="-50" dirty="0"/>
            <a:t> </a:t>
          </a:r>
          <a:r>
            <a:rPr lang="it-IT" dirty="0"/>
            <a:t>di</a:t>
          </a:r>
          <a:r>
            <a:rPr lang="it-IT" spc="-35" dirty="0"/>
            <a:t> </a:t>
          </a:r>
          <a:r>
            <a:rPr lang="it-IT" dirty="0"/>
            <a:t>riserve</a:t>
          </a:r>
          <a:r>
            <a:rPr lang="it-IT" spc="-60" dirty="0"/>
            <a:t> </a:t>
          </a:r>
          <a:r>
            <a:rPr lang="it-IT" dirty="0"/>
            <a:t>di</a:t>
          </a:r>
          <a:r>
            <a:rPr lang="it-IT" spc="-40" dirty="0"/>
            <a:t> </a:t>
          </a:r>
          <a:r>
            <a:rPr lang="it-IT" dirty="0"/>
            <a:t>capitale</a:t>
          </a:r>
          <a:r>
            <a:rPr lang="it-IT" spc="-60" dirty="0"/>
            <a:t> </a:t>
          </a:r>
          <a:r>
            <a:rPr lang="it-IT" dirty="0"/>
            <a:t>utilizzate</a:t>
          </a:r>
          <a:r>
            <a:rPr lang="it-IT" spc="-60" dirty="0"/>
            <a:t> </a:t>
          </a:r>
          <a:r>
            <a:rPr lang="it-IT" dirty="0"/>
            <a:t>sul</a:t>
          </a:r>
          <a:r>
            <a:rPr lang="it-IT" spc="-50" dirty="0"/>
            <a:t> </a:t>
          </a:r>
          <a:r>
            <a:rPr lang="it-IT" dirty="0"/>
            <a:t>valore</a:t>
          </a:r>
          <a:r>
            <a:rPr lang="it-IT" spc="-45" dirty="0"/>
            <a:t> </a:t>
          </a:r>
          <a:r>
            <a:rPr lang="it-IT" dirty="0"/>
            <a:t>fiscale</a:t>
          </a:r>
          <a:r>
            <a:rPr lang="it-IT" spc="-45" dirty="0"/>
            <a:t> </a:t>
          </a:r>
          <a:r>
            <a:rPr lang="it-IT" spc="-10" dirty="0"/>
            <a:t>(%</a:t>
          </a:r>
          <a:r>
            <a:rPr lang="it-IT" spc="-10" dirty="0" err="1"/>
            <a:t>Ris</a:t>
          </a:r>
          <a:r>
            <a:rPr lang="it-IT" spc="-10" dirty="0"/>
            <a:t>) </a:t>
          </a:r>
          <a:endParaRPr lang="it-IT" dirty="0"/>
        </a:p>
      </dgm:t>
    </dgm:pt>
    <dgm:pt modelId="{06AF8EFA-0E8E-4F48-87FC-CDE133C257FE}" type="parTrans" cxnId="{60B78255-9A48-4D5F-9699-69BBEBDB40FF}">
      <dgm:prSet/>
      <dgm:spPr/>
      <dgm:t>
        <a:bodyPr/>
        <a:lstStyle/>
        <a:p>
          <a:endParaRPr lang="it-IT"/>
        </a:p>
      </dgm:t>
    </dgm:pt>
    <dgm:pt modelId="{EE43146C-DF8B-4578-A557-59F321ED8641}" type="sibTrans" cxnId="{60B78255-9A48-4D5F-9699-69BBEBDB40FF}">
      <dgm:prSet/>
      <dgm:spPr/>
      <dgm:t>
        <a:bodyPr/>
        <a:lstStyle/>
        <a:p>
          <a:endParaRPr lang="it-IT"/>
        </a:p>
      </dgm:t>
    </dgm:pt>
    <dgm:pt modelId="{6F0B4F56-29D1-4EA0-BA8F-05CC6D6E175E}">
      <dgm:prSet phldrT="[Testo]"/>
      <dgm:spPr/>
      <dgm:t>
        <a:bodyPr/>
        <a:lstStyle/>
        <a:p>
          <a:r>
            <a:rPr lang="it-IT" spc="-20" dirty="0"/>
            <a:t>Valore</a:t>
          </a:r>
          <a:r>
            <a:rPr lang="it-IT" spc="-60" dirty="0"/>
            <a:t> </a:t>
          </a:r>
          <a:r>
            <a:rPr lang="it-IT" dirty="0"/>
            <a:t>Assegnazione</a:t>
          </a:r>
          <a:r>
            <a:rPr lang="it-IT" spc="-70" dirty="0"/>
            <a:t> </a:t>
          </a:r>
          <a:r>
            <a:rPr lang="it-IT" dirty="0"/>
            <a:t>(VA)</a:t>
          </a:r>
          <a:r>
            <a:rPr lang="it-IT" spc="-35" dirty="0"/>
            <a:t> </a:t>
          </a:r>
          <a:r>
            <a:rPr lang="it-IT" i="1" dirty="0">
              <a:latin typeface="Calibri"/>
              <a:cs typeface="Calibri"/>
            </a:rPr>
            <a:t>tale</a:t>
          </a:r>
          <a:r>
            <a:rPr lang="it-IT" i="1" spc="-55" dirty="0">
              <a:latin typeface="Calibri"/>
              <a:cs typeface="Calibri"/>
            </a:rPr>
            <a:t> </a:t>
          </a:r>
          <a:r>
            <a:rPr lang="it-IT" i="1" dirty="0">
              <a:latin typeface="Calibri"/>
              <a:cs typeface="Calibri"/>
            </a:rPr>
            <a:t>che</a:t>
          </a:r>
          <a:r>
            <a:rPr lang="it-IT" i="1" spc="-35" dirty="0">
              <a:latin typeface="Calibri"/>
              <a:cs typeface="Calibri"/>
            </a:rPr>
            <a:t> </a:t>
          </a:r>
          <a:r>
            <a:rPr lang="it-IT" i="1" spc="-10" dirty="0">
              <a:latin typeface="Calibri"/>
              <a:cs typeface="Calibri"/>
            </a:rPr>
            <a:t>VA&gt;=VC</a:t>
          </a:r>
          <a:endParaRPr lang="it-IT" dirty="0"/>
        </a:p>
      </dgm:t>
    </dgm:pt>
    <dgm:pt modelId="{9AF53B0F-D178-4966-B85B-0CE41F3F2E29}" type="parTrans" cxnId="{807C9074-7D87-4B02-817A-49E8F83758FF}">
      <dgm:prSet/>
      <dgm:spPr/>
      <dgm:t>
        <a:bodyPr/>
        <a:lstStyle/>
        <a:p>
          <a:endParaRPr lang="it-IT"/>
        </a:p>
      </dgm:t>
    </dgm:pt>
    <dgm:pt modelId="{A669D09E-96E0-4B4A-B48C-A49BF6E25921}" type="sibTrans" cxnId="{807C9074-7D87-4B02-817A-49E8F83758FF}">
      <dgm:prSet/>
      <dgm:spPr/>
      <dgm:t>
        <a:bodyPr/>
        <a:lstStyle/>
        <a:p>
          <a:endParaRPr lang="it-IT"/>
        </a:p>
      </dgm:t>
    </dgm:pt>
    <dgm:pt modelId="{0CE843DB-0192-412B-B642-AF8D949C0EFE}">
      <dgm:prSet phldrT="[Testo]"/>
      <dgm:spPr/>
      <dgm:t>
        <a:bodyPr/>
        <a:lstStyle/>
        <a:p>
          <a:r>
            <a:rPr lang="it-IT" dirty="0"/>
            <a:t>Valore di Mercato (VM)</a:t>
          </a:r>
        </a:p>
      </dgm:t>
    </dgm:pt>
    <dgm:pt modelId="{DA168801-D5B2-4AFA-BEF6-C918D0E9872F}" type="parTrans" cxnId="{46480326-E08C-4C72-B9B0-223DCF36966B}">
      <dgm:prSet/>
      <dgm:spPr/>
      <dgm:t>
        <a:bodyPr/>
        <a:lstStyle/>
        <a:p>
          <a:endParaRPr lang="it-IT"/>
        </a:p>
      </dgm:t>
    </dgm:pt>
    <dgm:pt modelId="{6A59D5E8-F346-49A9-8DEE-CE02071C04E0}" type="sibTrans" cxnId="{46480326-E08C-4C72-B9B0-223DCF36966B}">
      <dgm:prSet/>
      <dgm:spPr/>
      <dgm:t>
        <a:bodyPr/>
        <a:lstStyle/>
        <a:p>
          <a:endParaRPr lang="it-IT"/>
        </a:p>
      </dgm:t>
    </dgm:pt>
    <dgm:pt modelId="{65A64815-3D28-41E5-A11C-01A1DA3C88F5}">
      <dgm:prSet phldrT="[Testo]"/>
      <dgm:spPr/>
      <dgm:t>
        <a:bodyPr/>
        <a:lstStyle/>
        <a:p>
          <a:r>
            <a:rPr lang="it-IT" spc="-20"/>
            <a:t>Valore</a:t>
          </a:r>
          <a:r>
            <a:rPr lang="it-IT" spc="-30"/>
            <a:t> </a:t>
          </a:r>
          <a:r>
            <a:rPr lang="it-IT"/>
            <a:t>della</a:t>
          </a:r>
          <a:r>
            <a:rPr lang="it-IT" spc="-40"/>
            <a:t> </a:t>
          </a:r>
          <a:r>
            <a:rPr lang="it-IT" spc="-10"/>
            <a:t>partecipazione</a:t>
          </a:r>
          <a:r>
            <a:rPr lang="it-IT" spc="-50"/>
            <a:t> </a:t>
          </a:r>
          <a:r>
            <a:rPr lang="it-IT"/>
            <a:t>ante</a:t>
          </a:r>
          <a:r>
            <a:rPr lang="it-IT" spc="-15"/>
            <a:t> </a:t>
          </a:r>
          <a:r>
            <a:rPr lang="it-IT"/>
            <a:t>assegnazione</a:t>
          </a:r>
          <a:r>
            <a:rPr lang="it-IT" spc="-50"/>
            <a:t> </a:t>
          </a:r>
          <a:r>
            <a:rPr lang="it-IT" spc="-20"/>
            <a:t>(VP)</a:t>
          </a:r>
          <a:endParaRPr lang="it-IT" dirty="0"/>
        </a:p>
      </dgm:t>
    </dgm:pt>
    <dgm:pt modelId="{B7425CFC-64C2-422B-8DDB-2B6B17ECD3A8}" type="parTrans" cxnId="{2A585A86-5728-41D8-9EC4-C42F750FB827}">
      <dgm:prSet/>
      <dgm:spPr/>
      <dgm:t>
        <a:bodyPr/>
        <a:lstStyle/>
        <a:p>
          <a:endParaRPr lang="it-IT"/>
        </a:p>
      </dgm:t>
    </dgm:pt>
    <dgm:pt modelId="{498965AD-4E58-4303-8FDC-C371FA025790}" type="sibTrans" cxnId="{2A585A86-5728-41D8-9EC4-C42F750FB827}">
      <dgm:prSet/>
      <dgm:spPr/>
      <dgm:t>
        <a:bodyPr/>
        <a:lstStyle/>
        <a:p>
          <a:endParaRPr lang="it-IT"/>
        </a:p>
      </dgm:t>
    </dgm:pt>
    <dgm:pt modelId="{9912EEEB-A74F-4002-8C9A-7BED45E4147B}" type="pres">
      <dgm:prSet presAssocID="{4CD86DB5-C394-4E19-A82F-17412100B410}" presName="Name0" presStyleCnt="0">
        <dgm:presLayoutVars>
          <dgm:chMax val="7"/>
          <dgm:chPref val="7"/>
          <dgm:dir/>
        </dgm:presLayoutVars>
      </dgm:prSet>
      <dgm:spPr/>
    </dgm:pt>
    <dgm:pt modelId="{65FD9717-6D07-4E1A-B934-39AC92F03EAA}" type="pres">
      <dgm:prSet presAssocID="{4CD86DB5-C394-4E19-A82F-17412100B410}" presName="Name1" presStyleCnt="0"/>
      <dgm:spPr/>
    </dgm:pt>
    <dgm:pt modelId="{24589BF7-BD7D-4FDE-B359-948BDD12DA57}" type="pres">
      <dgm:prSet presAssocID="{4CD86DB5-C394-4E19-A82F-17412100B410}" presName="cycle" presStyleCnt="0"/>
      <dgm:spPr/>
    </dgm:pt>
    <dgm:pt modelId="{0951B60B-9FE5-4209-848F-E147DC91DBDF}" type="pres">
      <dgm:prSet presAssocID="{4CD86DB5-C394-4E19-A82F-17412100B410}" presName="srcNode" presStyleLbl="node1" presStyleIdx="0" presStyleCnt="6"/>
      <dgm:spPr/>
    </dgm:pt>
    <dgm:pt modelId="{43909E16-7CE9-47A0-8D02-8F16D7ED707A}" type="pres">
      <dgm:prSet presAssocID="{4CD86DB5-C394-4E19-A82F-17412100B410}" presName="conn" presStyleLbl="parChTrans1D2" presStyleIdx="0" presStyleCnt="1"/>
      <dgm:spPr/>
    </dgm:pt>
    <dgm:pt modelId="{BDBAD194-AF6F-4792-B2D1-55A152FEC5F7}" type="pres">
      <dgm:prSet presAssocID="{4CD86DB5-C394-4E19-A82F-17412100B410}" presName="extraNode" presStyleLbl="node1" presStyleIdx="0" presStyleCnt="6"/>
      <dgm:spPr/>
    </dgm:pt>
    <dgm:pt modelId="{79E06E71-0CBD-4465-ADE3-CC7C38C7A453}" type="pres">
      <dgm:prSet presAssocID="{4CD86DB5-C394-4E19-A82F-17412100B410}" presName="dstNode" presStyleLbl="node1" presStyleIdx="0" presStyleCnt="6"/>
      <dgm:spPr/>
    </dgm:pt>
    <dgm:pt modelId="{B11D2BBC-21C6-445D-869E-8DABB2244742}" type="pres">
      <dgm:prSet presAssocID="{0CE843DB-0192-412B-B642-AF8D949C0EFE}" presName="text_1" presStyleLbl="node1" presStyleIdx="0" presStyleCnt="6">
        <dgm:presLayoutVars>
          <dgm:bulletEnabled val="1"/>
        </dgm:presLayoutVars>
      </dgm:prSet>
      <dgm:spPr/>
    </dgm:pt>
    <dgm:pt modelId="{D9CB00CB-3A4D-46A1-AB5D-BC6A51D6CF78}" type="pres">
      <dgm:prSet presAssocID="{0CE843DB-0192-412B-B642-AF8D949C0EFE}" presName="accent_1" presStyleCnt="0"/>
      <dgm:spPr/>
    </dgm:pt>
    <dgm:pt modelId="{4A457100-B1D1-4B55-AECA-D0EB9CD1A180}" type="pres">
      <dgm:prSet presAssocID="{0CE843DB-0192-412B-B642-AF8D949C0EFE}" presName="accentRepeatNode" presStyleLbl="solidFgAcc1" presStyleIdx="0" presStyleCnt="6"/>
      <dgm:spPr/>
    </dgm:pt>
    <dgm:pt modelId="{5C4A9C93-C8DF-4711-80BD-EDF642EEEC9C}" type="pres">
      <dgm:prSet presAssocID="{351101A5-4542-4815-A7D3-C030E9C6CF59}" presName="text_2" presStyleLbl="node1" presStyleIdx="1" presStyleCnt="6">
        <dgm:presLayoutVars>
          <dgm:bulletEnabled val="1"/>
        </dgm:presLayoutVars>
      </dgm:prSet>
      <dgm:spPr/>
    </dgm:pt>
    <dgm:pt modelId="{5C94D3B8-7A33-41D2-9EF5-8FDAD94D6CEE}" type="pres">
      <dgm:prSet presAssocID="{351101A5-4542-4815-A7D3-C030E9C6CF59}" presName="accent_2" presStyleCnt="0"/>
      <dgm:spPr/>
    </dgm:pt>
    <dgm:pt modelId="{37EF7F2D-2410-4C02-8810-CA2300429494}" type="pres">
      <dgm:prSet presAssocID="{351101A5-4542-4815-A7D3-C030E9C6CF59}" presName="accentRepeatNode" presStyleLbl="solidFgAcc1" presStyleIdx="1" presStyleCnt="6"/>
      <dgm:spPr/>
    </dgm:pt>
    <dgm:pt modelId="{911D71B1-7F24-48CD-A1BB-D6369CFA2A2B}" type="pres">
      <dgm:prSet presAssocID="{18C7D180-FC42-43F7-9D10-4DBCEE90EA6F}" presName="text_3" presStyleLbl="node1" presStyleIdx="2" presStyleCnt="6">
        <dgm:presLayoutVars>
          <dgm:bulletEnabled val="1"/>
        </dgm:presLayoutVars>
      </dgm:prSet>
      <dgm:spPr/>
    </dgm:pt>
    <dgm:pt modelId="{4B767439-0D77-47D6-84C7-D6FDEB3CDF79}" type="pres">
      <dgm:prSet presAssocID="{18C7D180-FC42-43F7-9D10-4DBCEE90EA6F}" presName="accent_3" presStyleCnt="0"/>
      <dgm:spPr/>
    </dgm:pt>
    <dgm:pt modelId="{57AB78FA-BBD1-4CA2-8010-A1EA6A529714}" type="pres">
      <dgm:prSet presAssocID="{18C7D180-FC42-43F7-9D10-4DBCEE90EA6F}" presName="accentRepeatNode" presStyleLbl="solidFgAcc1" presStyleIdx="2" presStyleCnt="6"/>
      <dgm:spPr/>
    </dgm:pt>
    <dgm:pt modelId="{832014DC-25C8-4311-AB33-A86179176C34}" type="pres">
      <dgm:prSet presAssocID="{6F0B4F56-29D1-4EA0-BA8F-05CC6D6E175E}" presName="text_4" presStyleLbl="node1" presStyleIdx="3" presStyleCnt="6">
        <dgm:presLayoutVars>
          <dgm:bulletEnabled val="1"/>
        </dgm:presLayoutVars>
      </dgm:prSet>
      <dgm:spPr/>
    </dgm:pt>
    <dgm:pt modelId="{4B8EC0DB-6180-485D-8560-CCC44A0C9476}" type="pres">
      <dgm:prSet presAssocID="{6F0B4F56-29D1-4EA0-BA8F-05CC6D6E175E}" presName="accent_4" presStyleCnt="0"/>
      <dgm:spPr/>
    </dgm:pt>
    <dgm:pt modelId="{1AAA5F45-3D4D-4591-A58F-722EAAFDE7F5}" type="pres">
      <dgm:prSet presAssocID="{6F0B4F56-29D1-4EA0-BA8F-05CC6D6E175E}" presName="accentRepeatNode" presStyleLbl="solidFgAcc1" presStyleIdx="3" presStyleCnt="6"/>
      <dgm:spPr/>
    </dgm:pt>
    <dgm:pt modelId="{D97FFDC8-7643-4BF0-94F1-2D52F5EE6216}" type="pres">
      <dgm:prSet presAssocID="{5A9AF494-CBCD-4152-8C9A-16B29312CE20}" presName="text_5" presStyleLbl="node1" presStyleIdx="4" presStyleCnt="6">
        <dgm:presLayoutVars>
          <dgm:bulletEnabled val="1"/>
        </dgm:presLayoutVars>
      </dgm:prSet>
      <dgm:spPr/>
    </dgm:pt>
    <dgm:pt modelId="{EB2E5115-CD1B-4EA9-A8F1-443EDC94A221}" type="pres">
      <dgm:prSet presAssocID="{5A9AF494-CBCD-4152-8C9A-16B29312CE20}" presName="accent_5" presStyleCnt="0"/>
      <dgm:spPr/>
    </dgm:pt>
    <dgm:pt modelId="{BF41E802-6919-4039-A3E9-FF01269D29E0}" type="pres">
      <dgm:prSet presAssocID="{5A9AF494-CBCD-4152-8C9A-16B29312CE20}" presName="accentRepeatNode" presStyleLbl="solidFgAcc1" presStyleIdx="4" presStyleCnt="6"/>
      <dgm:spPr/>
    </dgm:pt>
    <dgm:pt modelId="{1D2FC5AE-BA8F-4C4A-B9BA-A947307FEF2F}" type="pres">
      <dgm:prSet presAssocID="{65A64815-3D28-41E5-A11C-01A1DA3C88F5}" presName="text_6" presStyleLbl="node1" presStyleIdx="5" presStyleCnt="6">
        <dgm:presLayoutVars>
          <dgm:bulletEnabled val="1"/>
        </dgm:presLayoutVars>
      </dgm:prSet>
      <dgm:spPr/>
    </dgm:pt>
    <dgm:pt modelId="{6C5C2933-4530-4D9C-A709-801F9AEE289C}" type="pres">
      <dgm:prSet presAssocID="{65A64815-3D28-41E5-A11C-01A1DA3C88F5}" presName="accent_6" presStyleCnt="0"/>
      <dgm:spPr/>
    </dgm:pt>
    <dgm:pt modelId="{15761A84-6BB7-4A8F-B9C9-394C258643DF}" type="pres">
      <dgm:prSet presAssocID="{65A64815-3D28-41E5-A11C-01A1DA3C88F5}" presName="accentRepeatNode" presStyleLbl="solidFgAcc1" presStyleIdx="5" presStyleCnt="6"/>
      <dgm:spPr/>
    </dgm:pt>
  </dgm:ptLst>
  <dgm:cxnLst>
    <dgm:cxn modelId="{FF8E200E-2FF4-4B7D-AE28-3483F7821964}" type="presOf" srcId="{18C7D180-FC42-43F7-9D10-4DBCEE90EA6F}" destId="{911D71B1-7F24-48CD-A1BB-D6369CFA2A2B}" srcOrd="0" destOrd="0" presId="urn:microsoft.com/office/officeart/2008/layout/VerticalCurvedList"/>
    <dgm:cxn modelId="{E3E4A51A-0905-4CC3-99AC-6C21987B7923}" type="presOf" srcId="{65A64815-3D28-41E5-A11C-01A1DA3C88F5}" destId="{1D2FC5AE-BA8F-4C4A-B9BA-A947307FEF2F}" srcOrd="0" destOrd="0" presId="urn:microsoft.com/office/officeart/2008/layout/VerticalCurvedList"/>
    <dgm:cxn modelId="{46480326-E08C-4C72-B9B0-223DCF36966B}" srcId="{4CD86DB5-C394-4E19-A82F-17412100B410}" destId="{0CE843DB-0192-412B-B642-AF8D949C0EFE}" srcOrd="0" destOrd="0" parTransId="{DA168801-D5B2-4AFA-BEF6-C918D0E9872F}" sibTransId="{6A59D5E8-F346-49A9-8DEE-CE02071C04E0}"/>
    <dgm:cxn modelId="{4EA35C5E-92B5-4BFD-8181-6B7DA7665B8C}" type="presOf" srcId="{6A59D5E8-F346-49A9-8DEE-CE02071C04E0}" destId="{43909E16-7CE9-47A0-8D02-8F16D7ED707A}" srcOrd="0" destOrd="0" presId="urn:microsoft.com/office/officeart/2008/layout/VerticalCurvedList"/>
    <dgm:cxn modelId="{E6BE8A41-2447-494C-8403-902C811714C9}" srcId="{4CD86DB5-C394-4E19-A82F-17412100B410}" destId="{18C7D180-FC42-43F7-9D10-4DBCEE90EA6F}" srcOrd="2" destOrd="0" parTransId="{07C9CED7-1BF6-40FC-8973-DF36D8E3496D}" sibTransId="{C934A091-178A-4262-B5C2-37C155355B1F}"/>
    <dgm:cxn modelId="{C24D1244-9C05-4EBA-A6D6-43EDD79963F4}" type="presOf" srcId="{351101A5-4542-4815-A7D3-C030E9C6CF59}" destId="{5C4A9C93-C8DF-4711-80BD-EDF642EEEC9C}" srcOrd="0" destOrd="0" presId="urn:microsoft.com/office/officeart/2008/layout/VerticalCurvedList"/>
    <dgm:cxn modelId="{7145186B-1C99-4A4E-8565-4D7F60417C43}" type="presOf" srcId="{5A9AF494-CBCD-4152-8C9A-16B29312CE20}" destId="{D97FFDC8-7643-4BF0-94F1-2D52F5EE6216}" srcOrd="0" destOrd="0" presId="urn:microsoft.com/office/officeart/2008/layout/VerticalCurvedList"/>
    <dgm:cxn modelId="{F0F49450-86B0-478D-8A92-96BE3004BD5B}" type="presOf" srcId="{6F0B4F56-29D1-4EA0-BA8F-05CC6D6E175E}" destId="{832014DC-25C8-4311-AB33-A86179176C34}" srcOrd="0" destOrd="0" presId="urn:microsoft.com/office/officeart/2008/layout/VerticalCurvedList"/>
    <dgm:cxn modelId="{807C9074-7D87-4B02-817A-49E8F83758FF}" srcId="{4CD86DB5-C394-4E19-A82F-17412100B410}" destId="{6F0B4F56-29D1-4EA0-BA8F-05CC6D6E175E}" srcOrd="3" destOrd="0" parTransId="{9AF53B0F-D178-4966-B85B-0CE41F3F2E29}" sibTransId="{A669D09E-96E0-4B4A-B48C-A49BF6E25921}"/>
    <dgm:cxn modelId="{60B78255-9A48-4D5F-9699-69BBEBDB40FF}" srcId="{4CD86DB5-C394-4E19-A82F-17412100B410}" destId="{5A9AF494-CBCD-4152-8C9A-16B29312CE20}" srcOrd="4" destOrd="0" parTransId="{06AF8EFA-0E8E-4F48-87FC-CDE133C257FE}" sibTransId="{EE43146C-DF8B-4578-A557-59F321ED8641}"/>
    <dgm:cxn modelId="{AF2E0E7A-2A09-4837-B45A-BD887334B627}" type="presOf" srcId="{0CE843DB-0192-412B-B642-AF8D949C0EFE}" destId="{B11D2BBC-21C6-445D-869E-8DABB2244742}" srcOrd="0" destOrd="0" presId="urn:microsoft.com/office/officeart/2008/layout/VerticalCurvedList"/>
    <dgm:cxn modelId="{2A585A86-5728-41D8-9EC4-C42F750FB827}" srcId="{4CD86DB5-C394-4E19-A82F-17412100B410}" destId="{65A64815-3D28-41E5-A11C-01A1DA3C88F5}" srcOrd="5" destOrd="0" parTransId="{B7425CFC-64C2-422B-8DDB-2B6B17ECD3A8}" sibTransId="{498965AD-4E58-4303-8FDC-C371FA025790}"/>
    <dgm:cxn modelId="{0B43C6D0-87D4-4540-9538-815B8722CA15}" type="presOf" srcId="{4CD86DB5-C394-4E19-A82F-17412100B410}" destId="{9912EEEB-A74F-4002-8C9A-7BED45E4147B}" srcOrd="0" destOrd="0" presId="urn:microsoft.com/office/officeart/2008/layout/VerticalCurvedList"/>
    <dgm:cxn modelId="{CDF005EF-0654-4144-A86B-99183ACE5250}" srcId="{4CD86DB5-C394-4E19-A82F-17412100B410}" destId="{351101A5-4542-4815-A7D3-C030E9C6CF59}" srcOrd="1" destOrd="0" parTransId="{996AC710-4998-467F-A154-DBC6E99189AC}" sibTransId="{6EEE0C26-C69E-479A-B746-A3AEA2A8D2BB}"/>
    <dgm:cxn modelId="{1BEB9E40-3E33-4298-8B2C-4F2D2EE1EE72}" type="presParOf" srcId="{9912EEEB-A74F-4002-8C9A-7BED45E4147B}" destId="{65FD9717-6D07-4E1A-B934-39AC92F03EAA}" srcOrd="0" destOrd="0" presId="urn:microsoft.com/office/officeart/2008/layout/VerticalCurvedList"/>
    <dgm:cxn modelId="{ACE23BA9-82B9-4292-81E3-15D46CEFB55D}" type="presParOf" srcId="{65FD9717-6D07-4E1A-B934-39AC92F03EAA}" destId="{24589BF7-BD7D-4FDE-B359-948BDD12DA57}" srcOrd="0" destOrd="0" presId="urn:microsoft.com/office/officeart/2008/layout/VerticalCurvedList"/>
    <dgm:cxn modelId="{7B68DDB6-8FA3-44D6-91AF-D2900D2B7472}" type="presParOf" srcId="{24589BF7-BD7D-4FDE-B359-948BDD12DA57}" destId="{0951B60B-9FE5-4209-848F-E147DC91DBDF}" srcOrd="0" destOrd="0" presId="urn:microsoft.com/office/officeart/2008/layout/VerticalCurvedList"/>
    <dgm:cxn modelId="{0E2348B4-3B41-46E9-810B-6E350C3056CD}" type="presParOf" srcId="{24589BF7-BD7D-4FDE-B359-948BDD12DA57}" destId="{43909E16-7CE9-47A0-8D02-8F16D7ED707A}" srcOrd="1" destOrd="0" presId="urn:microsoft.com/office/officeart/2008/layout/VerticalCurvedList"/>
    <dgm:cxn modelId="{F0449B9F-926D-4353-9FB8-805DC84B84F9}" type="presParOf" srcId="{24589BF7-BD7D-4FDE-B359-948BDD12DA57}" destId="{BDBAD194-AF6F-4792-B2D1-55A152FEC5F7}" srcOrd="2" destOrd="0" presId="urn:microsoft.com/office/officeart/2008/layout/VerticalCurvedList"/>
    <dgm:cxn modelId="{6DE4A12A-0006-4AB3-B378-CF096B32D582}" type="presParOf" srcId="{24589BF7-BD7D-4FDE-B359-948BDD12DA57}" destId="{79E06E71-0CBD-4465-ADE3-CC7C38C7A453}" srcOrd="3" destOrd="0" presId="urn:microsoft.com/office/officeart/2008/layout/VerticalCurvedList"/>
    <dgm:cxn modelId="{174FB945-A95D-4EC8-BD96-6278793C5119}" type="presParOf" srcId="{65FD9717-6D07-4E1A-B934-39AC92F03EAA}" destId="{B11D2BBC-21C6-445D-869E-8DABB2244742}" srcOrd="1" destOrd="0" presId="urn:microsoft.com/office/officeart/2008/layout/VerticalCurvedList"/>
    <dgm:cxn modelId="{A9029D07-2026-4EF6-8101-8BFFA6E8E557}" type="presParOf" srcId="{65FD9717-6D07-4E1A-B934-39AC92F03EAA}" destId="{D9CB00CB-3A4D-46A1-AB5D-BC6A51D6CF78}" srcOrd="2" destOrd="0" presId="urn:microsoft.com/office/officeart/2008/layout/VerticalCurvedList"/>
    <dgm:cxn modelId="{EC2712C8-D327-4009-B215-E620386176F7}" type="presParOf" srcId="{D9CB00CB-3A4D-46A1-AB5D-BC6A51D6CF78}" destId="{4A457100-B1D1-4B55-AECA-D0EB9CD1A180}" srcOrd="0" destOrd="0" presId="urn:microsoft.com/office/officeart/2008/layout/VerticalCurvedList"/>
    <dgm:cxn modelId="{0BDDAFB6-5745-4A72-83F2-029C54A7420A}" type="presParOf" srcId="{65FD9717-6D07-4E1A-B934-39AC92F03EAA}" destId="{5C4A9C93-C8DF-4711-80BD-EDF642EEEC9C}" srcOrd="3" destOrd="0" presId="urn:microsoft.com/office/officeart/2008/layout/VerticalCurvedList"/>
    <dgm:cxn modelId="{F06D149A-61BC-4ADB-BDF8-62783EAC7B45}" type="presParOf" srcId="{65FD9717-6D07-4E1A-B934-39AC92F03EAA}" destId="{5C94D3B8-7A33-41D2-9EF5-8FDAD94D6CEE}" srcOrd="4" destOrd="0" presId="urn:microsoft.com/office/officeart/2008/layout/VerticalCurvedList"/>
    <dgm:cxn modelId="{C7EDC51D-F1FA-4D2F-907C-CF3522C14C71}" type="presParOf" srcId="{5C94D3B8-7A33-41D2-9EF5-8FDAD94D6CEE}" destId="{37EF7F2D-2410-4C02-8810-CA2300429494}" srcOrd="0" destOrd="0" presId="urn:microsoft.com/office/officeart/2008/layout/VerticalCurvedList"/>
    <dgm:cxn modelId="{1F6D94F9-69A6-4F47-9E5F-60EC76BC2237}" type="presParOf" srcId="{65FD9717-6D07-4E1A-B934-39AC92F03EAA}" destId="{911D71B1-7F24-48CD-A1BB-D6369CFA2A2B}" srcOrd="5" destOrd="0" presId="urn:microsoft.com/office/officeart/2008/layout/VerticalCurvedList"/>
    <dgm:cxn modelId="{FDE13DC0-0D02-4108-8FB7-82E63ABC62A3}" type="presParOf" srcId="{65FD9717-6D07-4E1A-B934-39AC92F03EAA}" destId="{4B767439-0D77-47D6-84C7-D6FDEB3CDF79}" srcOrd="6" destOrd="0" presId="urn:microsoft.com/office/officeart/2008/layout/VerticalCurvedList"/>
    <dgm:cxn modelId="{FE0F0F8E-54C6-41AF-AED1-9E4D21B694F9}" type="presParOf" srcId="{4B767439-0D77-47D6-84C7-D6FDEB3CDF79}" destId="{57AB78FA-BBD1-4CA2-8010-A1EA6A529714}" srcOrd="0" destOrd="0" presId="urn:microsoft.com/office/officeart/2008/layout/VerticalCurvedList"/>
    <dgm:cxn modelId="{9C4D102E-9592-4B08-A8B5-B0FA71A0161F}" type="presParOf" srcId="{65FD9717-6D07-4E1A-B934-39AC92F03EAA}" destId="{832014DC-25C8-4311-AB33-A86179176C34}" srcOrd="7" destOrd="0" presId="urn:microsoft.com/office/officeart/2008/layout/VerticalCurvedList"/>
    <dgm:cxn modelId="{6FCCFC5B-79D3-46DF-8DF3-522A38A0DE25}" type="presParOf" srcId="{65FD9717-6D07-4E1A-B934-39AC92F03EAA}" destId="{4B8EC0DB-6180-485D-8560-CCC44A0C9476}" srcOrd="8" destOrd="0" presId="urn:microsoft.com/office/officeart/2008/layout/VerticalCurvedList"/>
    <dgm:cxn modelId="{95DCC070-ECDC-4F6E-9E93-4CC40B59B0F8}" type="presParOf" srcId="{4B8EC0DB-6180-485D-8560-CCC44A0C9476}" destId="{1AAA5F45-3D4D-4591-A58F-722EAAFDE7F5}" srcOrd="0" destOrd="0" presId="urn:microsoft.com/office/officeart/2008/layout/VerticalCurvedList"/>
    <dgm:cxn modelId="{2BFBE35B-E9FF-4B69-9376-DEAFF8D158C3}" type="presParOf" srcId="{65FD9717-6D07-4E1A-B934-39AC92F03EAA}" destId="{D97FFDC8-7643-4BF0-94F1-2D52F5EE6216}" srcOrd="9" destOrd="0" presId="urn:microsoft.com/office/officeart/2008/layout/VerticalCurvedList"/>
    <dgm:cxn modelId="{65129741-852F-4E79-A31B-37C1D4662971}" type="presParOf" srcId="{65FD9717-6D07-4E1A-B934-39AC92F03EAA}" destId="{EB2E5115-CD1B-4EA9-A8F1-443EDC94A221}" srcOrd="10" destOrd="0" presId="urn:microsoft.com/office/officeart/2008/layout/VerticalCurvedList"/>
    <dgm:cxn modelId="{FAE67C1B-8184-4999-B7D5-454559ACA869}" type="presParOf" srcId="{EB2E5115-CD1B-4EA9-A8F1-443EDC94A221}" destId="{BF41E802-6919-4039-A3E9-FF01269D29E0}" srcOrd="0" destOrd="0" presId="urn:microsoft.com/office/officeart/2008/layout/VerticalCurvedList"/>
    <dgm:cxn modelId="{CE422A0B-E23F-492C-811E-EFD7F1346589}" type="presParOf" srcId="{65FD9717-6D07-4E1A-B934-39AC92F03EAA}" destId="{1D2FC5AE-BA8F-4C4A-B9BA-A947307FEF2F}" srcOrd="11" destOrd="0" presId="urn:microsoft.com/office/officeart/2008/layout/VerticalCurvedList"/>
    <dgm:cxn modelId="{16DC2E63-54C0-4054-8D65-E13F2F9A89C8}" type="presParOf" srcId="{65FD9717-6D07-4E1A-B934-39AC92F03EAA}" destId="{6C5C2933-4530-4D9C-A709-801F9AEE289C}" srcOrd="12" destOrd="0" presId="urn:microsoft.com/office/officeart/2008/layout/VerticalCurvedList"/>
    <dgm:cxn modelId="{1E815176-D7A5-488E-B49F-0F2D53EC238B}" type="presParOf" srcId="{6C5C2933-4530-4D9C-A709-801F9AEE289C}" destId="{15761A84-6BB7-4A8F-B9C9-394C258643D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909E16-7CE9-47A0-8D02-8F16D7ED707A}">
      <dsp:nvSpPr>
        <dsp:cNvPr id="0" name=""/>
        <dsp:cNvSpPr/>
      </dsp:nvSpPr>
      <dsp:spPr>
        <a:xfrm>
          <a:off x="-4874663" y="-747025"/>
          <a:ext cx="5805825" cy="5805825"/>
        </a:xfrm>
        <a:prstGeom prst="blockArc">
          <a:avLst>
            <a:gd name="adj1" fmla="val 18900000"/>
            <a:gd name="adj2" fmla="val 2700000"/>
            <a:gd name="adj3" fmla="val 372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1D2BBC-21C6-445D-869E-8DABB2244742}">
      <dsp:nvSpPr>
        <dsp:cNvPr id="0" name=""/>
        <dsp:cNvSpPr/>
      </dsp:nvSpPr>
      <dsp:spPr>
        <a:xfrm>
          <a:off x="347500" y="227058"/>
          <a:ext cx="8127799" cy="453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318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Valore di Mercato (VM)</a:t>
          </a:r>
        </a:p>
      </dsp:txBody>
      <dsp:txXfrm>
        <a:off x="347500" y="227058"/>
        <a:ext cx="8127799" cy="453943"/>
      </dsp:txXfrm>
    </dsp:sp>
    <dsp:sp modelId="{4A457100-B1D1-4B55-AECA-D0EB9CD1A180}">
      <dsp:nvSpPr>
        <dsp:cNvPr id="0" name=""/>
        <dsp:cNvSpPr/>
      </dsp:nvSpPr>
      <dsp:spPr>
        <a:xfrm>
          <a:off x="63785" y="170315"/>
          <a:ext cx="567429" cy="567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C4A9C93-C8DF-4711-80BD-EDF642EEEC9C}">
      <dsp:nvSpPr>
        <dsp:cNvPr id="0" name=""/>
        <dsp:cNvSpPr/>
      </dsp:nvSpPr>
      <dsp:spPr>
        <a:xfrm>
          <a:off x="720900" y="907887"/>
          <a:ext cx="7754399" cy="453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318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spc="-20" dirty="0"/>
            <a:t>Valore</a:t>
          </a:r>
          <a:r>
            <a:rPr lang="it-IT" sz="2300" kern="1200" spc="-40" dirty="0"/>
            <a:t> </a:t>
          </a:r>
          <a:r>
            <a:rPr lang="it-IT" sz="2300" kern="1200" dirty="0"/>
            <a:t>fiscale</a:t>
          </a:r>
          <a:r>
            <a:rPr lang="it-IT" sz="2300" kern="1200" spc="-55" dirty="0"/>
            <a:t> </a:t>
          </a:r>
          <a:r>
            <a:rPr lang="it-IT" sz="2300" kern="1200" spc="-20" dirty="0"/>
            <a:t>(VF) </a:t>
          </a:r>
          <a:endParaRPr lang="it-IT" sz="2300" kern="1200" dirty="0"/>
        </a:p>
      </dsp:txBody>
      <dsp:txXfrm>
        <a:off x="720900" y="907887"/>
        <a:ext cx="7754399" cy="453943"/>
      </dsp:txXfrm>
    </dsp:sp>
    <dsp:sp modelId="{37EF7F2D-2410-4C02-8810-CA2300429494}">
      <dsp:nvSpPr>
        <dsp:cNvPr id="0" name=""/>
        <dsp:cNvSpPr/>
      </dsp:nvSpPr>
      <dsp:spPr>
        <a:xfrm>
          <a:off x="437185" y="851144"/>
          <a:ext cx="567429" cy="567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11D71B1-7F24-48CD-A1BB-D6369CFA2A2B}">
      <dsp:nvSpPr>
        <dsp:cNvPr id="0" name=""/>
        <dsp:cNvSpPr/>
      </dsp:nvSpPr>
      <dsp:spPr>
        <a:xfrm>
          <a:off x="891646" y="1588716"/>
          <a:ext cx="7583653" cy="453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318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spc="-20" dirty="0"/>
            <a:t>Valore</a:t>
          </a:r>
          <a:r>
            <a:rPr lang="it-IT" sz="2300" kern="1200" spc="-35" dirty="0"/>
            <a:t> </a:t>
          </a:r>
          <a:r>
            <a:rPr lang="it-IT" sz="2300" kern="1200" spc="-10" dirty="0"/>
            <a:t>Catastale</a:t>
          </a:r>
          <a:r>
            <a:rPr lang="it-IT" sz="2300" kern="1200" spc="-45" dirty="0"/>
            <a:t> </a:t>
          </a:r>
          <a:r>
            <a:rPr lang="it-IT" sz="2300" kern="1200" spc="-20" dirty="0"/>
            <a:t>(VC)</a:t>
          </a:r>
          <a:endParaRPr lang="it-IT" sz="2300" kern="1200" dirty="0"/>
        </a:p>
      </dsp:txBody>
      <dsp:txXfrm>
        <a:off x="891646" y="1588716"/>
        <a:ext cx="7583653" cy="453943"/>
      </dsp:txXfrm>
    </dsp:sp>
    <dsp:sp modelId="{57AB78FA-BBD1-4CA2-8010-A1EA6A529714}">
      <dsp:nvSpPr>
        <dsp:cNvPr id="0" name=""/>
        <dsp:cNvSpPr/>
      </dsp:nvSpPr>
      <dsp:spPr>
        <a:xfrm>
          <a:off x="607931" y="1531973"/>
          <a:ext cx="567429" cy="567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2014DC-25C8-4311-AB33-A86179176C34}">
      <dsp:nvSpPr>
        <dsp:cNvPr id="0" name=""/>
        <dsp:cNvSpPr/>
      </dsp:nvSpPr>
      <dsp:spPr>
        <a:xfrm>
          <a:off x="891646" y="2269114"/>
          <a:ext cx="7583653" cy="453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318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spc="-20" dirty="0"/>
            <a:t>Valore</a:t>
          </a:r>
          <a:r>
            <a:rPr lang="it-IT" sz="2300" kern="1200" spc="-60" dirty="0"/>
            <a:t> </a:t>
          </a:r>
          <a:r>
            <a:rPr lang="it-IT" sz="2300" kern="1200" dirty="0"/>
            <a:t>Assegnazione</a:t>
          </a:r>
          <a:r>
            <a:rPr lang="it-IT" sz="2300" kern="1200" spc="-70" dirty="0"/>
            <a:t> </a:t>
          </a:r>
          <a:r>
            <a:rPr lang="it-IT" sz="2300" kern="1200" dirty="0"/>
            <a:t>(VA)</a:t>
          </a:r>
          <a:r>
            <a:rPr lang="it-IT" sz="2300" kern="1200" spc="-35" dirty="0"/>
            <a:t> </a:t>
          </a:r>
          <a:r>
            <a:rPr lang="it-IT" sz="2300" i="1" kern="1200" dirty="0">
              <a:latin typeface="Calibri"/>
              <a:cs typeface="Calibri"/>
            </a:rPr>
            <a:t>tale</a:t>
          </a:r>
          <a:r>
            <a:rPr lang="it-IT" sz="2300" i="1" kern="1200" spc="-55" dirty="0">
              <a:latin typeface="Calibri"/>
              <a:cs typeface="Calibri"/>
            </a:rPr>
            <a:t> </a:t>
          </a:r>
          <a:r>
            <a:rPr lang="it-IT" sz="2300" i="1" kern="1200" dirty="0">
              <a:latin typeface="Calibri"/>
              <a:cs typeface="Calibri"/>
            </a:rPr>
            <a:t>che</a:t>
          </a:r>
          <a:r>
            <a:rPr lang="it-IT" sz="2300" i="1" kern="1200" spc="-35" dirty="0">
              <a:latin typeface="Calibri"/>
              <a:cs typeface="Calibri"/>
            </a:rPr>
            <a:t> </a:t>
          </a:r>
          <a:r>
            <a:rPr lang="it-IT" sz="2300" i="1" kern="1200" spc="-10" dirty="0">
              <a:latin typeface="Calibri"/>
              <a:cs typeface="Calibri"/>
            </a:rPr>
            <a:t>VA&gt;=VC</a:t>
          </a:r>
          <a:endParaRPr lang="it-IT" sz="2300" kern="1200" dirty="0"/>
        </a:p>
      </dsp:txBody>
      <dsp:txXfrm>
        <a:off x="891646" y="2269114"/>
        <a:ext cx="7583653" cy="453943"/>
      </dsp:txXfrm>
    </dsp:sp>
    <dsp:sp modelId="{1AAA5F45-3D4D-4591-A58F-722EAAFDE7F5}">
      <dsp:nvSpPr>
        <dsp:cNvPr id="0" name=""/>
        <dsp:cNvSpPr/>
      </dsp:nvSpPr>
      <dsp:spPr>
        <a:xfrm>
          <a:off x="607931" y="2212371"/>
          <a:ext cx="567429" cy="567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97FFDC8-7643-4BF0-94F1-2D52F5EE6216}">
      <dsp:nvSpPr>
        <dsp:cNvPr id="0" name=""/>
        <dsp:cNvSpPr/>
      </dsp:nvSpPr>
      <dsp:spPr>
        <a:xfrm>
          <a:off x="720900" y="2949943"/>
          <a:ext cx="7754399" cy="453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318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Quota</a:t>
          </a:r>
          <a:r>
            <a:rPr lang="it-IT" sz="2300" kern="1200" spc="-50" dirty="0"/>
            <a:t> </a:t>
          </a:r>
          <a:r>
            <a:rPr lang="it-IT" sz="2300" kern="1200" dirty="0"/>
            <a:t>di</a:t>
          </a:r>
          <a:r>
            <a:rPr lang="it-IT" sz="2300" kern="1200" spc="-35" dirty="0"/>
            <a:t> </a:t>
          </a:r>
          <a:r>
            <a:rPr lang="it-IT" sz="2300" kern="1200" dirty="0"/>
            <a:t>riserve</a:t>
          </a:r>
          <a:r>
            <a:rPr lang="it-IT" sz="2300" kern="1200" spc="-60" dirty="0"/>
            <a:t> </a:t>
          </a:r>
          <a:r>
            <a:rPr lang="it-IT" sz="2300" kern="1200" dirty="0"/>
            <a:t>di</a:t>
          </a:r>
          <a:r>
            <a:rPr lang="it-IT" sz="2300" kern="1200" spc="-40" dirty="0"/>
            <a:t> </a:t>
          </a:r>
          <a:r>
            <a:rPr lang="it-IT" sz="2300" kern="1200" dirty="0"/>
            <a:t>capitale</a:t>
          </a:r>
          <a:r>
            <a:rPr lang="it-IT" sz="2300" kern="1200" spc="-60" dirty="0"/>
            <a:t> </a:t>
          </a:r>
          <a:r>
            <a:rPr lang="it-IT" sz="2300" kern="1200" dirty="0"/>
            <a:t>utilizzate</a:t>
          </a:r>
          <a:r>
            <a:rPr lang="it-IT" sz="2300" kern="1200" spc="-60" dirty="0"/>
            <a:t> </a:t>
          </a:r>
          <a:r>
            <a:rPr lang="it-IT" sz="2300" kern="1200" dirty="0"/>
            <a:t>sul</a:t>
          </a:r>
          <a:r>
            <a:rPr lang="it-IT" sz="2300" kern="1200" spc="-50" dirty="0"/>
            <a:t> </a:t>
          </a:r>
          <a:r>
            <a:rPr lang="it-IT" sz="2300" kern="1200" dirty="0"/>
            <a:t>valore</a:t>
          </a:r>
          <a:r>
            <a:rPr lang="it-IT" sz="2300" kern="1200" spc="-45" dirty="0"/>
            <a:t> </a:t>
          </a:r>
          <a:r>
            <a:rPr lang="it-IT" sz="2300" kern="1200" dirty="0"/>
            <a:t>fiscale</a:t>
          </a:r>
          <a:r>
            <a:rPr lang="it-IT" sz="2300" kern="1200" spc="-45" dirty="0"/>
            <a:t> </a:t>
          </a:r>
          <a:r>
            <a:rPr lang="it-IT" sz="2300" kern="1200" spc="-10" dirty="0"/>
            <a:t>(%</a:t>
          </a:r>
          <a:r>
            <a:rPr lang="it-IT" sz="2300" kern="1200" spc="-10" dirty="0" err="1"/>
            <a:t>Ris</a:t>
          </a:r>
          <a:r>
            <a:rPr lang="it-IT" sz="2300" kern="1200" spc="-10" dirty="0"/>
            <a:t>) </a:t>
          </a:r>
          <a:endParaRPr lang="it-IT" sz="2300" kern="1200" dirty="0"/>
        </a:p>
      </dsp:txBody>
      <dsp:txXfrm>
        <a:off x="720900" y="2949943"/>
        <a:ext cx="7754399" cy="453943"/>
      </dsp:txXfrm>
    </dsp:sp>
    <dsp:sp modelId="{BF41E802-6919-4039-A3E9-FF01269D29E0}">
      <dsp:nvSpPr>
        <dsp:cNvPr id="0" name=""/>
        <dsp:cNvSpPr/>
      </dsp:nvSpPr>
      <dsp:spPr>
        <a:xfrm>
          <a:off x="437185" y="2893201"/>
          <a:ext cx="567429" cy="567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D2FC5AE-BA8F-4C4A-B9BA-A947307FEF2F}">
      <dsp:nvSpPr>
        <dsp:cNvPr id="0" name=""/>
        <dsp:cNvSpPr/>
      </dsp:nvSpPr>
      <dsp:spPr>
        <a:xfrm>
          <a:off x="347500" y="3630773"/>
          <a:ext cx="8127799" cy="453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318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spc="-20"/>
            <a:t>Valore</a:t>
          </a:r>
          <a:r>
            <a:rPr lang="it-IT" sz="2300" kern="1200" spc="-30"/>
            <a:t> </a:t>
          </a:r>
          <a:r>
            <a:rPr lang="it-IT" sz="2300" kern="1200"/>
            <a:t>della</a:t>
          </a:r>
          <a:r>
            <a:rPr lang="it-IT" sz="2300" kern="1200" spc="-40"/>
            <a:t> </a:t>
          </a:r>
          <a:r>
            <a:rPr lang="it-IT" sz="2300" kern="1200" spc="-10"/>
            <a:t>partecipazione</a:t>
          </a:r>
          <a:r>
            <a:rPr lang="it-IT" sz="2300" kern="1200" spc="-50"/>
            <a:t> </a:t>
          </a:r>
          <a:r>
            <a:rPr lang="it-IT" sz="2300" kern="1200"/>
            <a:t>ante</a:t>
          </a:r>
          <a:r>
            <a:rPr lang="it-IT" sz="2300" kern="1200" spc="-15"/>
            <a:t> </a:t>
          </a:r>
          <a:r>
            <a:rPr lang="it-IT" sz="2300" kern="1200"/>
            <a:t>assegnazione</a:t>
          </a:r>
          <a:r>
            <a:rPr lang="it-IT" sz="2300" kern="1200" spc="-50"/>
            <a:t> </a:t>
          </a:r>
          <a:r>
            <a:rPr lang="it-IT" sz="2300" kern="1200" spc="-20"/>
            <a:t>(VP)</a:t>
          </a:r>
          <a:endParaRPr lang="it-IT" sz="2300" kern="1200" dirty="0"/>
        </a:p>
      </dsp:txBody>
      <dsp:txXfrm>
        <a:off x="347500" y="3630773"/>
        <a:ext cx="8127799" cy="453943"/>
      </dsp:txXfrm>
    </dsp:sp>
    <dsp:sp modelId="{15761A84-6BB7-4A8F-B9C9-394C258643DF}">
      <dsp:nvSpPr>
        <dsp:cNvPr id="0" name=""/>
        <dsp:cNvSpPr/>
      </dsp:nvSpPr>
      <dsp:spPr>
        <a:xfrm>
          <a:off x="63785" y="3574030"/>
          <a:ext cx="567429" cy="567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898C9-08C5-4907-9EA1-CCB729FB8AED}" type="datetimeFigureOut">
              <a:rPr lang="it-IT" smtClean="0"/>
              <a:t>19/03/2025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183BF8-A457-4BC1-980F-DBACE4E8BD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428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70263" y="6284186"/>
            <a:ext cx="2103120" cy="34290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C3833-17EC-4E40-8111-302348F4D11A}" type="datetime1">
              <a:rPr lang="en-US" smtClean="0"/>
              <a:t>3/19/2025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  <p:pic>
        <p:nvPicPr>
          <p:cNvPr id="7" name="Picture 7" descr="LOGOodcec1709">
            <a:extLst>
              <a:ext uri="{FF2B5EF4-FFF2-40B4-BE49-F238E27FC236}">
                <a16:creationId xmlns:a16="http://schemas.microsoft.com/office/drawing/2014/main" id="{8B7DE32B-07ED-8845-B50E-5DE460C1A5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42888"/>
            <a:ext cx="3886200" cy="87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55D62099-2005-F5EF-68E5-35E029A790A1}"/>
              </a:ext>
            </a:extLst>
          </p:cNvPr>
          <p:cNvSpPr/>
          <p:nvPr userDrawn="1"/>
        </p:nvSpPr>
        <p:spPr>
          <a:xfrm>
            <a:off x="381000" y="6019800"/>
            <a:ext cx="2667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4917" y="422655"/>
            <a:ext cx="3527425" cy="29972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1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20E55-FA07-4D61-8D3C-9AC09760947A}" type="datetime1">
              <a:rPr lang="en-US" smtClean="0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4917" y="422655"/>
            <a:ext cx="3527425" cy="29972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1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C0482-40E4-4F0D-B81B-3FBCA5BB0D39}" type="datetime1">
              <a:rPr lang="en-US" smtClean="0"/>
              <a:t>3/19/2025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4917" y="422655"/>
            <a:ext cx="3527425" cy="29972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1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DFFD3-410D-418B-90A9-6F6650AAF1BB}" type="datetime1">
              <a:rPr lang="en-US" smtClean="0"/>
              <a:t>3/19/2025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9E0B2-A99A-48D3-BD06-DD974EA52A2A}" type="datetime1">
              <a:rPr lang="en-US" smtClean="0"/>
              <a:t>3/19/2025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7076-F3F7-4206-8FC7-F45D22A51A21}" type="datetime1">
              <a:rPr lang="en-US" smtClean="0"/>
              <a:t>3/19/2025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/>
          <a:lstStyle/>
          <a:p>
            <a:fld id="{B816713C-2A80-1C42-A07D-9EAC37EA88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9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83301" y="1792731"/>
            <a:ext cx="5682615" cy="3663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B3660-AD17-44D9-AAE2-7FBD611B932B}" type="datetime1">
              <a:rPr lang="en-US" smtClean="0"/>
              <a:t>3/19/2025</a:t>
            </a:fld>
            <a:endParaRPr lang="en-US"/>
          </a:p>
        </p:txBody>
      </p:sp>
      <p:pic>
        <p:nvPicPr>
          <p:cNvPr id="7" name="Picture 15" descr="LOGOodcec1709">
            <a:extLst>
              <a:ext uri="{FF2B5EF4-FFF2-40B4-BE49-F238E27FC236}">
                <a16:creationId xmlns:a16="http://schemas.microsoft.com/office/drawing/2014/main" id="{6CE46382-AD85-2035-7238-09B139B18D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91" y="6177694"/>
            <a:ext cx="2439987" cy="55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26" Type="http://schemas.openxmlformats.org/officeDocument/2006/relationships/image" Target="../media/image29.jpg"/><Relationship Id="rId39" Type="http://schemas.openxmlformats.org/officeDocument/2006/relationships/image" Target="../media/image42.jpg"/><Relationship Id="rId21" Type="http://schemas.openxmlformats.org/officeDocument/2006/relationships/image" Target="../media/image24.jpg"/><Relationship Id="rId34" Type="http://schemas.openxmlformats.org/officeDocument/2006/relationships/image" Target="../media/image37.jpg"/><Relationship Id="rId7" Type="http://schemas.openxmlformats.org/officeDocument/2006/relationships/image" Target="../media/image10.jpg"/><Relationship Id="rId2" Type="http://schemas.openxmlformats.org/officeDocument/2006/relationships/image" Target="../media/image5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29" Type="http://schemas.openxmlformats.org/officeDocument/2006/relationships/image" Target="../media/image32.jpg"/><Relationship Id="rId41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24" Type="http://schemas.openxmlformats.org/officeDocument/2006/relationships/image" Target="../media/image27.jpg"/><Relationship Id="rId32" Type="http://schemas.openxmlformats.org/officeDocument/2006/relationships/image" Target="../media/image35.jpg"/><Relationship Id="rId37" Type="http://schemas.openxmlformats.org/officeDocument/2006/relationships/image" Target="../media/image40.jpg"/><Relationship Id="rId40" Type="http://schemas.openxmlformats.org/officeDocument/2006/relationships/image" Target="../media/image43.jpg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28" Type="http://schemas.openxmlformats.org/officeDocument/2006/relationships/image" Target="../media/image31.jpg"/><Relationship Id="rId36" Type="http://schemas.openxmlformats.org/officeDocument/2006/relationships/image" Target="../media/image39.jpg"/><Relationship Id="rId10" Type="http://schemas.openxmlformats.org/officeDocument/2006/relationships/image" Target="../media/image13.jpg"/><Relationship Id="rId19" Type="http://schemas.openxmlformats.org/officeDocument/2006/relationships/image" Target="../media/image22.jpg"/><Relationship Id="rId31" Type="http://schemas.openxmlformats.org/officeDocument/2006/relationships/image" Target="../media/image34.jpg"/><Relationship Id="rId4" Type="http://schemas.openxmlformats.org/officeDocument/2006/relationships/image" Target="../media/image7.jp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image" Target="../media/image25.jpg"/><Relationship Id="rId27" Type="http://schemas.openxmlformats.org/officeDocument/2006/relationships/image" Target="../media/image30.jpg"/><Relationship Id="rId30" Type="http://schemas.openxmlformats.org/officeDocument/2006/relationships/image" Target="../media/image33.jpg"/><Relationship Id="rId35" Type="http://schemas.openxmlformats.org/officeDocument/2006/relationships/image" Target="../media/image38.jpg"/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5" Type="http://schemas.openxmlformats.org/officeDocument/2006/relationships/image" Target="../media/image28.jpg"/><Relationship Id="rId33" Type="http://schemas.openxmlformats.org/officeDocument/2006/relationships/image" Target="../media/image36.jpg"/><Relationship Id="rId38" Type="http://schemas.openxmlformats.org/officeDocument/2006/relationships/image" Target="../media/image4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jpg"/><Relationship Id="rId3" Type="http://schemas.openxmlformats.org/officeDocument/2006/relationships/image" Target="../media/image46.png"/><Relationship Id="rId7" Type="http://schemas.openxmlformats.org/officeDocument/2006/relationships/image" Target="../media/image50.jpg"/><Relationship Id="rId12" Type="http://schemas.openxmlformats.org/officeDocument/2006/relationships/image" Target="../media/image55.jpg"/><Relationship Id="rId2" Type="http://schemas.openxmlformats.org/officeDocument/2006/relationships/image" Target="../media/image45.jpg"/><Relationship Id="rId16" Type="http://schemas.openxmlformats.org/officeDocument/2006/relationships/image" Target="../media/image5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jpg"/><Relationship Id="rId11" Type="http://schemas.openxmlformats.org/officeDocument/2006/relationships/image" Target="../media/image54.jpg"/><Relationship Id="rId5" Type="http://schemas.openxmlformats.org/officeDocument/2006/relationships/image" Target="../media/image48.jp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7.jpg"/><Relationship Id="rId9" Type="http://schemas.openxmlformats.org/officeDocument/2006/relationships/image" Target="../media/image52.jpg"/><Relationship Id="rId14" Type="http://schemas.openxmlformats.org/officeDocument/2006/relationships/image" Target="../media/image57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g"/><Relationship Id="rId13" Type="http://schemas.openxmlformats.org/officeDocument/2006/relationships/image" Target="../media/image71.jpg"/><Relationship Id="rId3" Type="http://schemas.openxmlformats.org/officeDocument/2006/relationships/image" Target="../media/image61.png"/><Relationship Id="rId7" Type="http://schemas.openxmlformats.org/officeDocument/2006/relationships/image" Target="../media/image65.jpg"/><Relationship Id="rId12" Type="http://schemas.openxmlformats.org/officeDocument/2006/relationships/image" Target="../media/image70.png"/><Relationship Id="rId17" Type="http://schemas.openxmlformats.org/officeDocument/2006/relationships/image" Target="../media/image75.jpg"/><Relationship Id="rId2" Type="http://schemas.openxmlformats.org/officeDocument/2006/relationships/image" Target="../media/image60.jp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jpg"/><Relationship Id="rId11" Type="http://schemas.openxmlformats.org/officeDocument/2006/relationships/image" Target="../media/image69.jpg"/><Relationship Id="rId5" Type="http://schemas.openxmlformats.org/officeDocument/2006/relationships/image" Target="../media/image63.jpg"/><Relationship Id="rId15" Type="http://schemas.openxmlformats.org/officeDocument/2006/relationships/image" Target="../media/image73.jpg"/><Relationship Id="rId10" Type="http://schemas.openxmlformats.org/officeDocument/2006/relationships/image" Target="../media/image68.jpg"/><Relationship Id="rId4" Type="http://schemas.openxmlformats.org/officeDocument/2006/relationships/image" Target="../media/image62.jpg"/><Relationship Id="rId9" Type="http://schemas.openxmlformats.org/officeDocument/2006/relationships/image" Target="../media/image67.jpg"/><Relationship Id="rId14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g"/><Relationship Id="rId13" Type="http://schemas.openxmlformats.org/officeDocument/2006/relationships/image" Target="../media/image87.jpg"/><Relationship Id="rId18" Type="http://schemas.openxmlformats.org/officeDocument/2006/relationships/image" Target="../media/image92.jp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jpg"/><Relationship Id="rId2" Type="http://schemas.openxmlformats.org/officeDocument/2006/relationships/image" Target="../media/image76.jpg"/><Relationship Id="rId16" Type="http://schemas.openxmlformats.org/officeDocument/2006/relationships/image" Target="../media/image9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0.jpg"/><Relationship Id="rId11" Type="http://schemas.openxmlformats.org/officeDocument/2006/relationships/image" Target="../media/image85.jpg"/><Relationship Id="rId5" Type="http://schemas.openxmlformats.org/officeDocument/2006/relationships/image" Target="../media/image79.jpg"/><Relationship Id="rId15" Type="http://schemas.openxmlformats.org/officeDocument/2006/relationships/image" Target="../media/image89.jpg"/><Relationship Id="rId10" Type="http://schemas.openxmlformats.org/officeDocument/2006/relationships/image" Target="../media/image84.jpg"/><Relationship Id="rId19" Type="http://schemas.openxmlformats.org/officeDocument/2006/relationships/image" Target="../media/image93.jpg"/><Relationship Id="rId4" Type="http://schemas.openxmlformats.org/officeDocument/2006/relationships/image" Target="../media/image78.jpg"/><Relationship Id="rId9" Type="http://schemas.openxmlformats.org/officeDocument/2006/relationships/image" Target="../media/image83.jpg"/><Relationship Id="rId14" Type="http://schemas.openxmlformats.org/officeDocument/2006/relationships/image" Target="../media/image88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3">
            <a:extLst>
              <a:ext uri="{FF2B5EF4-FFF2-40B4-BE49-F238E27FC236}">
                <a16:creationId xmlns:a16="http://schemas.microsoft.com/office/drawing/2014/main" id="{EC3E5859-8D74-DEB7-06A8-B10AE15F4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0194"/>
            <a:ext cx="9144000" cy="2592388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47896" rIns="180000" bIns="47896" anchor="ctr"/>
          <a:lstStyle>
            <a:lvl1pPr defTabSz="957263">
              <a:spcBef>
                <a:spcPct val="20000"/>
              </a:spcBef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7263">
              <a:spcBef>
                <a:spcPct val="20000"/>
              </a:spcBef>
              <a:buClr>
                <a:schemeClr val="hlink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7263">
              <a:spcBef>
                <a:spcPct val="20000"/>
              </a:spcBef>
              <a:buClr>
                <a:schemeClr val="hlink"/>
              </a:buClr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7263">
              <a:spcBef>
                <a:spcPct val="20000"/>
              </a:spcBef>
              <a:buClr>
                <a:schemeClr val="hlink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7263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57263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it-IT" alt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imes New Roman" panose="02020603050405020304" pitchFamily="18" charset="0"/>
              </a:rPr>
              <a:t>L’assegnazione, cessione e trasformazione in pratica</a:t>
            </a:r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B95A667C-EA55-8E54-BE0D-9400E5620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24400"/>
            <a:ext cx="9144000" cy="429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7896" rIns="0" bIns="47896">
            <a:spAutoFit/>
          </a:bodyPr>
          <a:lstStyle>
            <a:lvl1pPr defTabSz="957263">
              <a:spcBef>
                <a:spcPct val="20000"/>
              </a:spcBef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7263">
              <a:spcBef>
                <a:spcPct val="20000"/>
              </a:spcBef>
              <a:buClr>
                <a:schemeClr val="hlink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7263">
              <a:spcBef>
                <a:spcPct val="20000"/>
              </a:spcBef>
              <a:buClr>
                <a:schemeClr val="hlink"/>
              </a:buClr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7263">
              <a:spcBef>
                <a:spcPct val="20000"/>
              </a:spcBef>
              <a:buClr>
                <a:schemeClr val="hlink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7263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de-DE" altLang="it-IT" sz="2400" dirty="0"/>
              <a:t>Dott. Alessandro Mattavelli</a:t>
            </a:r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85248319-3082-1C74-1018-C84C5C10BB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28877" y="6407572"/>
            <a:ext cx="9527" cy="0"/>
          </a:xfrm>
          <a:custGeom>
            <a:avLst/>
            <a:gdLst/>
            <a:ahLst/>
            <a:cxnLst/>
            <a:rect l="l" t="t" r="r" b="b"/>
            <a:pathLst>
              <a:path w="9525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4572">
            <a:solidFill>
              <a:srgbClr val="D6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12133" y="6539115"/>
            <a:ext cx="5081" cy="0"/>
          </a:xfrm>
          <a:custGeom>
            <a:avLst/>
            <a:gdLst/>
            <a:ahLst/>
            <a:cxnLst/>
            <a:rect l="l" t="t" r="r" b="b"/>
            <a:pathLst>
              <a:path w="5079">
                <a:moveTo>
                  <a:pt x="0" y="0"/>
                </a:moveTo>
                <a:lnTo>
                  <a:pt x="4572" y="0"/>
                </a:lnTo>
              </a:path>
            </a:pathLst>
          </a:custGeom>
          <a:ln w="4572">
            <a:solidFill>
              <a:srgbClr val="D582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5" name="object 145"/>
          <p:cNvPicPr/>
          <p:nvPr/>
        </p:nvPicPr>
        <p:blipFill rotWithShape="1">
          <a:blip r:embed="rId2" cstate="print"/>
          <a:srcRect b="4010"/>
          <a:stretch/>
        </p:blipFill>
        <p:spPr>
          <a:xfrm>
            <a:off x="3098558" y="1474724"/>
            <a:ext cx="4175103" cy="4885220"/>
          </a:xfrm>
          <a:prstGeom prst="rect">
            <a:avLst/>
          </a:prstGeom>
        </p:spPr>
      </p:pic>
      <p:sp>
        <p:nvSpPr>
          <p:cNvPr id="147" name="object 147"/>
          <p:cNvSpPr txBox="1"/>
          <p:nvPr/>
        </p:nvSpPr>
        <p:spPr>
          <a:xfrm>
            <a:off x="7636526" y="852423"/>
            <a:ext cx="1249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8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18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20" dirty="0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394225" y="1434024"/>
            <a:ext cx="2792095" cy="82041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dirty="0">
                <a:latin typeface="Calibri"/>
                <a:cs typeface="Calibri"/>
              </a:rPr>
              <a:t>Che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società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è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l’assegnante</a:t>
            </a:r>
            <a:endParaRPr sz="16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580"/>
              </a:spcBef>
              <a:buChar char="•"/>
              <a:tabLst>
                <a:tab pos="126364" algn="l"/>
              </a:tabLst>
            </a:pPr>
            <a:r>
              <a:rPr sz="1200" dirty="0">
                <a:latin typeface="Calibri"/>
                <a:cs typeface="Calibri"/>
              </a:rPr>
              <a:t>Forma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societaria</a:t>
            </a:r>
            <a:endParaRPr sz="12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110"/>
              </a:spcBef>
              <a:buChar char="•"/>
              <a:tabLst>
                <a:tab pos="126364" algn="l"/>
              </a:tabLst>
            </a:pPr>
            <a:r>
              <a:rPr sz="1200" spc="-10" dirty="0">
                <a:latin typeface="Calibri"/>
                <a:cs typeface="Calibri"/>
              </a:rPr>
              <a:t>Tassazione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regime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tassazione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soci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5220988" y="2316420"/>
            <a:ext cx="1668145" cy="82041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dirty="0">
                <a:latin typeface="Calibri"/>
                <a:cs typeface="Calibri"/>
              </a:rPr>
              <a:t>Bilancio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Assegnante</a:t>
            </a:r>
            <a:endParaRPr sz="16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580"/>
              </a:spcBef>
              <a:buChar char="•"/>
              <a:tabLst>
                <a:tab pos="126364" algn="l"/>
              </a:tabLst>
            </a:pPr>
            <a:r>
              <a:rPr sz="1200" spc="-10" dirty="0">
                <a:latin typeface="Calibri"/>
                <a:cs typeface="Calibri"/>
              </a:rPr>
              <a:t>Patrimonio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netto</a:t>
            </a:r>
            <a:endParaRPr sz="12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110"/>
              </a:spcBef>
              <a:buChar char="•"/>
              <a:tabLst>
                <a:tab pos="126364" algn="l"/>
              </a:tabLst>
            </a:pPr>
            <a:r>
              <a:rPr sz="1200" spc="-10" dirty="0">
                <a:latin typeface="Calibri"/>
                <a:cs typeface="Calibri"/>
              </a:rPr>
              <a:t>Valore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iscrizione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beni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2726201" y="2778970"/>
            <a:ext cx="1471295" cy="113538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600" dirty="0">
                <a:latin typeface="Calibri"/>
                <a:cs typeface="Calibri"/>
              </a:rPr>
              <a:t>Chi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sono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soci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 dirty="0">
                <a:latin typeface="Calibri"/>
                <a:cs typeface="Calibri"/>
              </a:rPr>
              <a:t>•Quote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possedute</a:t>
            </a:r>
            <a:endParaRPr sz="1100">
              <a:latin typeface="Calibri"/>
              <a:cs typeface="Calibri"/>
            </a:endParaRPr>
          </a:p>
          <a:p>
            <a:pPr marL="70485" marR="5080" indent="-58419">
              <a:lnSpc>
                <a:spcPts val="1210"/>
              </a:lnSpc>
              <a:spcBef>
                <a:spcPts val="219"/>
              </a:spcBef>
            </a:pPr>
            <a:r>
              <a:rPr sz="1100" dirty="0">
                <a:latin typeface="Calibri"/>
                <a:cs typeface="Calibri"/>
              </a:rPr>
              <a:t>•Valore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iscrizione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della </a:t>
            </a:r>
            <a:r>
              <a:rPr sz="1100" spc="-10" dirty="0">
                <a:latin typeface="Calibri"/>
                <a:cs typeface="Calibri"/>
              </a:rPr>
              <a:t>partecipazione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100" spc="-10" dirty="0">
                <a:latin typeface="Calibri"/>
                <a:cs typeface="Calibri"/>
              </a:rPr>
              <a:t>•Tassazione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51" name="object 15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2738" y="4425188"/>
            <a:ext cx="129539" cy="126492"/>
          </a:xfrm>
          <a:prstGeom prst="rect">
            <a:avLst/>
          </a:prstGeom>
        </p:spPr>
      </p:pic>
      <p:sp>
        <p:nvSpPr>
          <p:cNvPr id="152" name="object 152"/>
          <p:cNvSpPr txBox="1"/>
          <p:nvPr/>
        </p:nvSpPr>
        <p:spPr>
          <a:xfrm>
            <a:off x="6220731" y="3315968"/>
            <a:ext cx="1579880" cy="109029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800" dirty="0">
                <a:latin typeface="Calibri"/>
                <a:cs typeface="Calibri"/>
              </a:rPr>
              <a:t>Quali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sono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20" dirty="0">
                <a:latin typeface="Calibri"/>
                <a:cs typeface="Calibri"/>
              </a:rPr>
              <a:t> beni</a:t>
            </a:r>
            <a:endParaRPr sz="18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685"/>
              </a:spcBef>
              <a:buChar char="•"/>
              <a:tabLst>
                <a:tab pos="126364" algn="l"/>
              </a:tabLst>
            </a:pPr>
            <a:r>
              <a:rPr sz="1200" dirty="0">
                <a:latin typeface="Calibri"/>
                <a:cs typeface="Calibri"/>
              </a:rPr>
              <a:t>Tipo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immobile</a:t>
            </a:r>
            <a:endParaRPr sz="12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95"/>
              </a:spcBef>
              <a:buChar char="•"/>
              <a:tabLst>
                <a:tab pos="126364" algn="l"/>
              </a:tabLst>
            </a:pPr>
            <a:r>
              <a:rPr sz="1200" spc="-25" dirty="0">
                <a:latin typeface="Calibri"/>
                <a:cs typeface="Calibri"/>
              </a:rPr>
              <a:t>Uso</a:t>
            </a:r>
            <a:endParaRPr sz="12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95"/>
              </a:spcBef>
              <a:buChar char="•"/>
              <a:tabLst>
                <a:tab pos="126364" algn="l"/>
              </a:tabLst>
            </a:pPr>
            <a:r>
              <a:rPr sz="1200" dirty="0">
                <a:latin typeface="Calibri"/>
                <a:cs typeface="Calibri"/>
              </a:rPr>
              <a:t>Storia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fiscale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2686577" y="4399007"/>
            <a:ext cx="4893945" cy="1815464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700" dirty="0">
                <a:latin typeface="Calibri"/>
                <a:cs typeface="Calibri"/>
              </a:rPr>
              <a:t>Come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vengono</a:t>
            </a:r>
            <a:r>
              <a:rPr sz="1700" spc="-7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assegnati/ceduti</a:t>
            </a:r>
            <a:endParaRPr sz="17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126364" algn="l"/>
              </a:tabLst>
            </a:pPr>
            <a:r>
              <a:rPr sz="1300" dirty="0">
                <a:latin typeface="Calibri"/>
                <a:cs typeface="Calibri"/>
              </a:rPr>
              <a:t>Quote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di</a:t>
            </a:r>
            <a:r>
              <a:rPr sz="1300" spc="-10" dirty="0">
                <a:latin typeface="Calibri"/>
                <a:cs typeface="Calibri"/>
              </a:rPr>
              <a:t> attribuzione</a:t>
            </a:r>
            <a:endParaRPr sz="13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105"/>
              </a:spcBef>
              <a:buChar char="•"/>
              <a:tabLst>
                <a:tab pos="126364" algn="l"/>
              </a:tabLst>
            </a:pPr>
            <a:r>
              <a:rPr sz="1300" spc="-10" dirty="0">
                <a:latin typeface="Calibri"/>
                <a:cs typeface="Calibri"/>
              </a:rPr>
              <a:t>Accolli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Calibri"/>
              <a:cs typeface="Calibri"/>
            </a:endParaRPr>
          </a:p>
          <a:p>
            <a:pPr marL="3505200" marR="5080" indent="-5080" algn="r">
              <a:lnSpc>
                <a:spcPts val="1860"/>
              </a:lnSpc>
            </a:pPr>
            <a:r>
              <a:rPr sz="1700" dirty="0">
                <a:latin typeface="Calibri"/>
                <a:cs typeface="Calibri"/>
              </a:rPr>
              <a:t>Costo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criticità dell’operazione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9" name="Titolo 1">
            <a:extLst>
              <a:ext uri="{FF2B5EF4-FFF2-40B4-BE49-F238E27FC236}">
                <a16:creationId xmlns:a16="http://schemas.microsoft.com/office/drawing/2014/main" id="{070F64B0-8B3C-9A30-430C-5948F60F9CD4}"/>
              </a:ext>
            </a:extLst>
          </p:cNvPr>
          <p:cNvSpPr txBox="1">
            <a:spLocks/>
          </p:cNvSpPr>
          <p:nvPr/>
        </p:nvSpPr>
        <p:spPr bwMode="auto">
          <a:xfrm>
            <a:off x="57158" y="140497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Dati base</a:t>
            </a:r>
          </a:p>
        </p:txBody>
      </p:sp>
      <p:sp>
        <p:nvSpPr>
          <p:cNvPr id="156" name="Segnaposto numero diapositiva 155">
            <a:extLst>
              <a:ext uri="{FF2B5EF4-FFF2-40B4-BE49-F238E27FC236}">
                <a16:creationId xmlns:a16="http://schemas.microsoft.com/office/drawing/2014/main" id="{5F2BD546-D6F8-5AA9-58A6-E1548C0DED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</a:t>
            </a:fld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5512072" y="852423"/>
            <a:ext cx="3375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DOCUMENTAZIONE</a:t>
            </a:r>
            <a:r>
              <a:rPr sz="18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NECESSARIA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47" name="object 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569824"/>
              </p:ext>
            </p:extLst>
          </p:nvPr>
        </p:nvGraphicFramePr>
        <p:xfrm>
          <a:off x="871740" y="1861566"/>
          <a:ext cx="7440294" cy="2633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7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79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Documento/Informazione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Motivo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Libro</a:t>
                      </a:r>
                      <a:r>
                        <a:rPr sz="1050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soci/Visura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Aspetti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societari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Statuto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Aspetti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societari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Ultimo</a:t>
                      </a:r>
                      <a:r>
                        <a:rPr sz="1050" spc="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Bilancio</a:t>
                      </a:r>
                      <a:r>
                        <a:rPr sz="1050" spc="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050" spc="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situazione</a:t>
                      </a:r>
                      <a:r>
                        <a:rPr sz="1050" spc="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patrimoniale</a:t>
                      </a:r>
                      <a:r>
                        <a:rPr sz="1050" spc="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aggiornata</a:t>
                      </a:r>
                      <a:r>
                        <a:rPr sz="105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analitica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Composizione</a:t>
                      </a:r>
                      <a:r>
                        <a:rPr sz="1050" spc="-3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Patrimonio</a:t>
                      </a:r>
                      <a:r>
                        <a:rPr sz="1050" spc="-3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netto</a:t>
                      </a:r>
                      <a:r>
                        <a:rPr sz="1050" spc="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e valore</a:t>
                      </a:r>
                      <a:r>
                        <a:rPr sz="1050" spc="-1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immobili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Schede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catastali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Valore</a:t>
                      </a:r>
                      <a:r>
                        <a:rPr sz="1050" spc="-5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normale</a:t>
                      </a:r>
                      <a:r>
                        <a:rPr sz="1050" spc="-5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immobili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Ultime</a:t>
                      </a:r>
                      <a:r>
                        <a:rPr sz="1050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050" spc="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dichiarazione</a:t>
                      </a:r>
                      <a:r>
                        <a:rPr sz="105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società</a:t>
                      </a:r>
                      <a:r>
                        <a:rPr sz="1050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05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soci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Trattamento</a:t>
                      </a:r>
                      <a:r>
                        <a:rPr sz="1050" spc="4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fiscale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Operazioni</a:t>
                      </a:r>
                      <a:r>
                        <a:rPr sz="1050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sul</a:t>
                      </a:r>
                      <a:r>
                        <a:rPr sz="1050" spc="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capitale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Valore</a:t>
                      </a:r>
                      <a:r>
                        <a:rPr sz="1050" spc="-4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della</a:t>
                      </a:r>
                      <a:r>
                        <a:rPr sz="1050" spc="-4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partecipazione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Mastrino</a:t>
                      </a:r>
                      <a:r>
                        <a:rPr sz="105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eventuali</a:t>
                      </a:r>
                      <a:r>
                        <a:rPr sz="1050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costi</a:t>
                      </a:r>
                      <a:r>
                        <a:rPr sz="1050" spc="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</a:t>
                      </a:r>
                      <a:r>
                        <a:rPr sz="1050" spc="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manutenzione</a:t>
                      </a:r>
                      <a:r>
                        <a:rPr sz="1050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1050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dal</a:t>
                      </a:r>
                      <a:r>
                        <a:rPr sz="1050" spc="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</a:t>
                      </a:r>
                      <a:r>
                        <a:rPr lang="it-IT" sz="10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Rettifica</a:t>
                      </a:r>
                      <a:r>
                        <a:rPr sz="1050" spc="-4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della</a:t>
                      </a:r>
                      <a:r>
                        <a:rPr sz="1050" spc="-3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detrazione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Atti</a:t>
                      </a:r>
                      <a:r>
                        <a:rPr sz="1050" spc="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precedenti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Trattamento</a:t>
                      </a:r>
                      <a:r>
                        <a:rPr sz="1050" spc="-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imposte</a:t>
                      </a:r>
                      <a:r>
                        <a:rPr sz="1050" spc="1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indirette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Intenzione</a:t>
                      </a:r>
                      <a:r>
                        <a:rPr sz="1050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future</a:t>
                      </a:r>
                      <a:r>
                        <a:rPr sz="105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degli</a:t>
                      </a:r>
                      <a:r>
                        <a:rPr sz="105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assegnatari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Scelta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dei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valori</a:t>
                      </a:r>
                      <a:r>
                        <a:rPr sz="1050" spc="-3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e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del</a:t>
                      </a:r>
                      <a:r>
                        <a:rPr sz="1050" spc="-3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tipo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di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operazione</a:t>
                      </a:r>
                      <a:endParaRPr sz="1050" dirty="0">
                        <a:latin typeface="Georgia"/>
                        <a:cs typeface="Georgia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" name="Titolo 1">
            <a:extLst>
              <a:ext uri="{FF2B5EF4-FFF2-40B4-BE49-F238E27FC236}">
                <a16:creationId xmlns:a16="http://schemas.microsoft.com/office/drawing/2014/main" id="{117838C2-2CC8-2507-5690-CF8FDD356D09}"/>
              </a:ext>
            </a:extLst>
          </p:cNvPr>
          <p:cNvSpPr txBox="1">
            <a:spLocks/>
          </p:cNvSpPr>
          <p:nvPr/>
        </p:nvSpPr>
        <p:spPr bwMode="auto">
          <a:xfrm>
            <a:off x="57158" y="186719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La documentazione necessaria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91F49619-BD0F-B1F7-60C2-DB8C84D59B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3</a:t>
            </a:fld>
            <a:endParaRPr lang="it-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687075" y="852423"/>
            <a:ext cx="2200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800" i="1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verifiche</a:t>
            </a:r>
            <a:r>
              <a:rPr sz="1800" i="1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preliminari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487948" y="1602739"/>
            <a:ext cx="916940" cy="1548130"/>
            <a:chOff x="487948" y="1602739"/>
            <a:chExt cx="916940" cy="1548130"/>
          </a:xfrm>
        </p:grpSpPr>
        <p:pic>
          <p:nvPicPr>
            <p:cNvPr id="148" name="object 1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948" y="1602739"/>
              <a:ext cx="733448" cy="771144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695" y="2418080"/>
              <a:ext cx="666771" cy="732179"/>
            </a:xfrm>
            <a:prstGeom prst="rect">
              <a:avLst/>
            </a:prstGeom>
          </p:spPr>
        </p:pic>
      </p:grpSp>
      <p:sp>
        <p:nvSpPr>
          <p:cNvPr id="150" name="object 150"/>
          <p:cNvSpPr txBox="1"/>
          <p:nvPr/>
        </p:nvSpPr>
        <p:spPr>
          <a:xfrm>
            <a:off x="1350029" y="1643379"/>
            <a:ext cx="964565" cy="52133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1860"/>
              </a:lnSpc>
              <a:spcBef>
                <a:spcPts val="315"/>
              </a:spcBef>
            </a:pPr>
            <a:r>
              <a:rPr sz="1700" spc="-20" dirty="0">
                <a:latin typeface="Calibri"/>
                <a:cs typeface="Calibri"/>
              </a:rPr>
              <a:t>Tassazione </a:t>
            </a:r>
            <a:r>
              <a:rPr sz="1700" spc="-10" dirty="0">
                <a:latin typeface="Calibri"/>
                <a:cs typeface="Calibri"/>
              </a:rPr>
              <a:t>sostitutiva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1566437" y="2458718"/>
            <a:ext cx="586105" cy="52133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1860"/>
              </a:lnSpc>
              <a:spcBef>
                <a:spcPts val="315"/>
              </a:spcBef>
            </a:pPr>
            <a:r>
              <a:rPr sz="1700" spc="-30" dirty="0">
                <a:latin typeface="Calibri"/>
                <a:cs typeface="Calibri"/>
              </a:rPr>
              <a:t>Valore </a:t>
            </a:r>
            <a:r>
              <a:rPr sz="1700" spc="-10" dirty="0">
                <a:latin typeface="Calibri"/>
                <a:cs typeface="Calibri"/>
              </a:rPr>
              <a:t>fiscale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152" name="object 15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39194" y="1602739"/>
            <a:ext cx="845819" cy="865632"/>
          </a:xfrm>
          <a:prstGeom prst="rect">
            <a:avLst/>
          </a:prstGeom>
        </p:spPr>
      </p:pic>
      <p:sp>
        <p:nvSpPr>
          <p:cNvPr id="153" name="object 153"/>
          <p:cNvSpPr txBox="1"/>
          <p:nvPr/>
        </p:nvSpPr>
        <p:spPr>
          <a:xfrm>
            <a:off x="6095763" y="1625091"/>
            <a:ext cx="1112520" cy="6718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639"/>
              </a:lnSpc>
              <a:spcBef>
                <a:spcPts val="285"/>
              </a:spcBef>
            </a:pPr>
            <a:r>
              <a:rPr sz="1500" spc="-10" dirty="0">
                <a:latin typeface="Calibri"/>
                <a:cs typeface="Calibri"/>
              </a:rPr>
              <a:t>Tassazione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sui </a:t>
            </a:r>
            <a:r>
              <a:rPr sz="1500" dirty="0">
                <a:latin typeface="Calibri"/>
                <a:cs typeface="Calibri"/>
              </a:rPr>
              <a:t>soci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(sul</a:t>
            </a:r>
            <a:endParaRPr sz="1500" dirty="0">
              <a:latin typeface="Calibri"/>
              <a:cs typeface="Calibri"/>
            </a:endParaRPr>
          </a:p>
          <a:p>
            <a:pPr marL="12700">
              <a:lnSpc>
                <a:spcPts val="1620"/>
              </a:lnSpc>
            </a:pPr>
            <a:r>
              <a:rPr sz="1500" spc="-10" dirty="0">
                <a:latin typeface="Calibri"/>
                <a:cs typeface="Calibri"/>
              </a:rPr>
              <a:t>«sottozero»)</a:t>
            </a:r>
            <a:endParaRPr sz="1500" dirty="0">
              <a:latin typeface="Calibri"/>
              <a:cs typeface="Calibri"/>
            </a:endParaRPr>
          </a:p>
        </p:txBody>
      </p:sp>
      <p:pic>
        <p:nvPicPr>
          <p:cNvPr id="154" name="object 15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9131" y="2521711"/>
            <a:ext cx="844296" cy="861060"/>
          </a:xfrm>
          <a:prstGeom prst="rect">
            <a:avLst/>
          </a:prstGeom>
        </p:spPr>
      </p:pic>
      <p:sp>
        <p:nvSpPr>
          <p:cNvPr id="155" name="object 155"/>
          <p:cNvSpPr txBox="1"/>
          <p:nvPr/>
        </p:nvSpPr>
        <p:spPr>
          <a:xfrm>
            <a:off x="6344175" y="2541015"/>
            <a:ext cx="1173480" cy="6718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639"/>
              </a:lnSpc>
              <a:spcBef>
                <a:spcPts val="285"/>
              </a:spcBef>
            </a:pPr>
            <a:r>
              <a:rPr sz="1500" spc="-10" dirty="0">
                <a:latin typeface="Calibri"/>
                <a:cs typeface="Calibri"/>
              </a:rPr>
              <a:t>Valore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di </a:t>
            </a:r>
            <a:r>
              <a:rPr sz="1500" spc="-10" dirty="0">
                <a:latin typeface="Calibri"/>
                <a:cs typeface="Calibri"/>
              </a:rPr>
              <a:t>iscrizione partecipazione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2588018" y="1602739"/>
            <a:ext cx="953135" cy="1584960"/>
            <a:chOff x="2588018" y="1602739"/>
            <a:chExt cx="953135" cy="1584960"/>
          </a:xfrm>
        </p:grpSpPr>
        <p:pic>
          <p:nvPicPr>
            <p:cNvPr id="157" name="object 1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8018" y="1602739"/>
              <a:ext cx="732341" cy="771144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07474" y="2418080"/>
              <a:ext cx="733448" cy="769619"/>
            </a:xfrm>
            <a:prstGeom prst="rect">
              <a:avLst/>
            </a:prstGeom>
          </p:spPr>
        </p:pic>
      </p:grpSp>
      <p:sp>
        <p:nvSpPr>
          <p:cNvPr id="159" name="object 159"/>
          <p:cNvSpPr txBox="1"/>
          <p:nvPr/>
        </p:nvSpPr>
        <p:spPr>
          <a:xfrm>
            <a:off x="3450101" y="1643379"/>
            <a:ext cx="964565" cy="52133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1860"/>
              </a:lnSpc>
              <a:spcBef>
                <a:spcPts val="315"/>
              </a:spcBef>
            </a:pPr>
            <a:r>
              <a:rPr sz="1700" spc="-20" dirty="0">
                <a:latin typeface="Calibri"/>
                <a:cs typeface="Calibri"/>
              </a:rPr>
              <a:t>Tassazione </a:t>
            </a:r>
            <a:r>
              <a:rPr sz="1700" dirty="0">
                <a:latin typeface="Calibri"/>
                <a:cs typeface="Calibri"/>
              </a:rPr>
              <a:t>sui</a:t>
            </a:r>
            <a:r>
              <a:rPr sz="1700" spc="-20" dirty="0">
                <a:latin typeface="Calibri"/>
                <a:cs typeface="Calibri"/>
              </a:rPr>
              <a:t> soci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3666508" y="2458718"/>
            <a:ext cx="964565" cy="52133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1860"/>
              </a:lnSpc>
              <a:spcBef>
                <a:spcPts val="315"/>
              </a:spcBef>
            </a:pPr>
            <a:r>
              <a:rPr sz="1700" spc="-20" dirty="0">
                <a:latin typeface="Calibri"/>
                <a:cs typeface="Calibri"/>
              </a:rPr>
              <a:t>Tassazione </a:t>
            </a:r>
            <a:r>
              <a:rPr sz="1700" spc="-10" dirty="0">
                <a:latin typeface="Calibri"/>
                <a:cs typeface="Calibri"/>
              </a:rPr>
              <a:t>sostitutiva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670326" y="4220462"/>
            <a:ext cx="79565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83820">
              <a:lnSpc>
                <a:spcPts val="1320"/>
              </a:lnSpc>
              <a:spcBef>
                <a:spcPts val="240"/>
              </a:spcBef>
            </a:pPr>
            <a:r>
              <a:rPr sz="1200" dirty="0">
                <a:latin typeface="Calibri"/>
                <a:cs typeface="Calibri"/>
              </a:rPr>
              <a:t>Riserve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in </a:t>
            </a:r>
            <a:r>
              <a:rPr sz="1200" spc="-10" dirty="0">
                <a:latin typeface="Calibri"/>
                <a:cs typeface="Calibri"/>
              </a:rPr>
              <a:t>sospensione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488769" y="3988958"/>
            <a:ext cx="158750" cy="225425"/>
            <a:chOff x="488769" y="3988958"/>
            <a:chExt cx="158750" cy="225425"/>
          </a:xfrm>
        </p:grpSpPr>
        <p:pic>
          <p:nvPicPr>
            <p:cNvPr id="163" name="object 16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8769" y="4118073"/>
              <a:ext cx="97067" cy="96068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5707" y="3988958"/>
              <a:ext cx="91557" cy="96743"/>
            </a:xfrm>
            <a:prstGeom prst="rect">
              <a:avLst/>
            </a:prstGeom>
          </p:spPr>
        </p:pic>
      </p:grpSp>
      <p:pic>
        <p:nvPicPr>
          <p:cNvPr id="165" name="object 16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8206" y="4017558"/>
            <a:ext cx="147386" cy="147386"/>
          </a:xfrm>
          <a:prstGeom prst="rect">
            <a:avLst/>
          </a:prstGeom>
        </p:spPr>
      </p:pic>
      <p:pic>
        <p:nvPicPr>
          <p:cNvPr id="166" name="object 16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9645" y="3822842"/>
            <a:ext cx="96743" cy="96743"/>
          </a:xfrm>
          <a:prstGeom prst="rect">
            <a:avLst/>
          </a:prstGeom>
        </p:spPr>
      </p:pic>
      <p:grpSp>
        <p:nvGrpSpPr>
          <p:cNvPr id="167" name="object 167"/>
          <p:cNvGrpSpPr/>
          <p:nvPr/>
        </p:nvGrpSpPr>
        <p:grpSpPr>
          <a:xfrm>
            <a:off x="426285" y="3877251"/>
            <a:ext cx="3061335" cy="1094105"/>
            <a:chOff x="426285" y="3877251"/>
            <a:chExt cx="3061335" cy="1094105"/>
          </a:xfrm>
        </p:grpSpPr>
        <p:pic>
          <p:nvPicPr>
            <p:cNvPr id="168" name="object 16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3529" y="3877251"/>
              <a:ext cx="96743" cy="95718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8095" y="3913944"/>
              <a:ext cx="97067" cy="97067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36093" y="3980901"/>
              <a:ext cx="147386" cy="145983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5979" y="4009135"/>
              <a:ext cx="954024" cy="824483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56791" y="4671285"/>
              <a:ext cx="217571" cy="217198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4572" y="3988942"/>
              <a:ext cx="243077" cy="247268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6285" y="4479348"/>
              <a:ext cx="97067" cy="97067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0882" y="4595154"/>
              <a:ext cx="150524" cy="147386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1388" y="4695669"/>
              <a:ext cx="217571" cy="217198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62731" y="4861872"/>
              <a:ext cx="97067" cy="97067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16053" y="4695678"/>
              <a:ext cx="147386" cy="146343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45583" y="4874402"/>
              <a:ext cx="92537" cy="96743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92006" y="3943603"/>
              <a:ext cx="995172" cy="993647"/>
            </a:xfrm>
            <a:prstGeom prst="rect">
              <a:avLst/>
            </a:prstGeom>
          </p:spPr>
        </p:pic>
      </p:grpSp>
      <p:sp>
        <p:nvSpPr>
          <p:cNvPr id="181" name="object 181"/>
          <p:cNvSpPr txBox="1"/>
          <p:nvPr/>
        </p:nvSpPr>
        <p:spPr>
          <a:xfrm>
            <a:off x="2631713" y="4235702"/>
            <a:ext cx="71945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170180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Costo operazione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4580908" y="4304282"/>
            <a:ext cx="949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Trattamento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35" dirty="0">
                <a:latin typeface="Calibri"/>
                <a:cs typeface="Calibri"/>
              </a:rPr>
              <a:t>IV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5509767" y="4347462"/>
            <a:ext cx="889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dirty="0"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4516582" y="3988958"/>
            <a:ext cx="158750" cy="225425"/>
            <a:chOff x="4516582" y="3988958"/>
            <a:chExt cx="158750" cy="225425"/>
          </a:xfrm>
        </p:grpSpPr>
        <p:pic>
          <p:nvPicPr>
            <p:cNvPr id="185" name="object 18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16582" y="4118073"/>
              <a:ext cx="95718" cy="96068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582231" y="3988958"/>
              <a:ext cx="92846" cy="96743"/>
            </a:xfrm>
            <a:prstGeom prst="rect">
              <a:avLst/>
            </a:prstGeom>
          </p:spPr>
        </p:pic>
      </p:grpSp>
      <p:pic>
        <p:nvPicPr>
          <p:cNvPr id="187" name="object 18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736077" y="4017558"/>
            <a:ext cx="146343" cy="147386"/>
          </a:xfrm>
          <a:prstGeom prst="rect">
            <a:avLst/>
          </a:prstGeom>
        </p:spPr>
      </p:pic>
      <p:pic>
        <p:nvPicPr>
          <p:cNvPr id="188" name="object 18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031811" y="3822842"/>
            <a:ext cx="97067" cy="96743"/>
          </a:xfrm>
          <a:prstGeom prst="rect">
            <a:avLst/>
          </a:prstGeom>
        </p:spPr>
      </p:pic>
      <p:grpSp>
        <p:nvGrpSpPr>
          <p:cNvPr id="189" name="object 189"/>
          <p:cNvGrpSpPr/>
          <p:nvPr/>
        </p:nvGrpSpPr>
        <p:grpSpPr>
          <a:xfrm>
            <a:off x="4454215" y="3877251"/>
            <a:ext cx="3059430" cy="1094105"/>
            <a:chOff x="4454215" y="3877251"/>
            <a:chExt cx="3059430" cy="1094105"/>
          </a:xfrm>
        </p:grpSpPr>
        <p:pic>
          <p:nvPicPr>
            <p:cNvPr id="190" name="object 19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65667" y="3877251"/>
              <a:ext cx="92537" cy="95718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234503" y="3913944"/>
              <a:ext cx="97067" cy="97067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363965" y="3980901"/>
              <a:ext cx="146343" cy="145983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33911" y="4009135"/>
              <a:ext cx="957072" cy="824483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285103" y="4671285"/>
              <a:ext cx="217198" cy="217198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952467" y="3988942"/>
              <a:ext cx="241991" cy="247268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454215" y="4479348"/>
              <a:ext cx="97067" cy="97067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533364" y="4595154"/>
              <a:ext cx="145983" cy="147386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719699" y="4695669"/>
              <a:ext cx="217198" cy="217198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989139" y="4861872"/>
              <a:ext cx="97067" cy="97067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043985" y="4695678"/>
              <a:ext cx="147386" cy="146343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172019" y="4874402"/>
              <a:ext cx="92846" cy="96743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519939" y="3943603"/>
              <a:ext cx="993647" cy="993647"/>
            </a:xfrm>
            <a:prstGeom prst="rect">
              <a:avLst/>
            </a:prstGeom>
          </p:spPr>
        </p:pic>
      </p:grpSp>
      <p:sp>
        <p:nvSpPr>
          <p:cNvPr id="203" name="object 203"/>
          <p:cNvSpPr txBox="1"/>
          <p:nvPr/>
        </p:nvSpPr>
        <p:spPr>
          <a:xfrm>
            <a:off x="6659643" y="4235702"/>
            <a:ext cx="71945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170180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Costo operazione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Titolo 1">
            <a:extLst>
              <a:ext uri="{FF2B5EF4-FFF2-40B4-BE49-F238E27FC236}">
                <a16:creationId xmlns:a16="http://schemas.microsoft.com/office/drawing/2014/main" id="{ECD376FF-0E81-B2C2-A465-6D68D236B0C2}"/>
              </a:ext>
            </a:extLst>
          </p:cNvPr>
          <p:cNvSpPr txBox="1">
            <a:spLocks/>
          </p:cNvSpPr>
          <p:nvPr/>
        </p:nvSpPr>
        <p:spPr bwMode="auto">
          <a:xfrm>
            <a:off x="57158" y="181410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Le verifiche preliminari</a:t>
            </a:r>
          </a:p>
        </p:txBody>
      </p:sp>
      <p:sp>
        <p:nvSpPr>
          <p:cNvPr id="27" name="Segnaposto numero diapositiva 26">
            <a:extLst>
              <a:ext uri="{FF2B5EF4-FFF2-40B4-BE49-F238E27FC236}">
                <a16:creationId xmlns:a16="http://schemas.microsoft.com/office/drawing/2014/main" id="{CF356A53-BB33-82C0-7F43-0EB43144DB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4</a:t>
            </a:fld>
            <a:endParaRPr 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353319" y="852423"/>
            <a:ext cx="2534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800" i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variabili</a:t>
            </a:r>
            <a:r>
              <a:rPr sz="1800" i="1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800" i="1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problema…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7" name="object 157"/>
          <p:cNvSpPr txBox="1">
            <a:spLocks noGrp="1"/>
          </p:cNvSpPr>
          <p:nvPr>
            <p:ph type="body" idx="1"/>
          </p:nvPr>
        </p:nvSpPr>
        <p:spPr>
          <a:xfrm>
            <a:off x="2383301" y="1792731"/>
            <a:ext cx="5682615" cy="35019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Valore</a:t>
            </a:r>
            <a:r>
              <a:rPr spc="-40" dirty="0"/>
              <a:t> </a:t>
            </a:r>
            <a:r>
              <a:rPr dirty="0"/>
              <a:t>fiscale</a:t>
            </a:r>
            <a:r>
              <a:rPr spc="-55" dirty="0"/>
              <a:t> </a:t>
            </a:r>
            <a:r>
              <a:rPr spc="-20" dirty="0"/>
              <a:t>(VF)</a:t>
            </a:r>
            <a:r>
              <a:rPr lang="it-IT" spc="-20" dirty="0"/>
              <a:t> </a:t>
            </a:r>
            <a:endParaRPr spc="-20" dirty="0"/>
          </a:p>
          <a:p>
            <a:pPr>
              <a:lnSpc>
                <a:spcPct val="100000"/>
              </a:lnSpc>
            </a:pPr>
            <a:endParaRPr spc="-20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 dirty="0"/>
          </a:p>
          <a:p>
            <a:pPr marL="415925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Valore</a:t>
            </a:r>
            <a:r>
              <a:rPr spc="-35" dirty="0"/>
              <a:t> </a:t>
            </a:r>
            <a:r>
              <a:rPr spc="-10" dirty="0"/>
              <a:t>Catastale</a:t>
            </a:r>
            <a:r>
              <a:rPr spc="-45" dirty="0"/>
              <a:t> </a:t>
            </a:r>
            <a:r>
              <a:rPr spc="-20" dirty="0"/>
              <a:t>(VC)</a:t>
            </a:r>
          </a:p>
          <a:p>
            <a:pPr>
              <a:lnSpc>
                <a:spcPct val="100000"/>
              </a:lnSpc>
            </a:pPr>
            <a:endParaRPr spc="-20" dirty="0"/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/>
          </a:p>
          <a:p>
            <a:pPr marL="541020">
              <a:lnSpc>
                <a:spcPct val="100000"/>
              </a:lnSpc>
            </a:pPr>
            <a:r>
              <a:rPr spc="-20" dirty="0"/>
              <a:t>Valore</a:t>
            </a:r>
            <a:r>
              <a:rPr spc="-60" dirty="0"/>
              <a:t> </a:t>
            </a:r>
            <a:r>
              <a:rPr dirty="0"/>
              <a:t>Assegnazione</a:t>
            </a:r>
            <a:r>
              <a:rPr spc="-70" dirty="0"/>
              <a:t> </a:t>
            </a:r>
            <a:r>
              <a:rPr dirty="0"/>
              <a:t>(VA)</a:t>
            </a:r>
            <a:r>
              <a:rPr spc="-35" dirty="0"/>
              <a:t> </a:t>
            </a:r>
            <a:r>
              <a:rPr i="1" dirty="0">
                <a:latin typeface="Calibri"/>
                <a:cs typeface="Calibri"/>
              </a:rPr>
              <a:t>tale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che</a:t>
            </a:r>
            <a:r>
              <a:rPr i="1" spc="-35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VA&gt;=VC</a:t>
            </a:r>
          </a:p>
          <a:p>
            <a:pPr marL="12700" marR="5080" indent="403860">
              <a:lnSpc>
                <a:spcPct val="325900"/>
              </a:lnSpc>
            </a:pPr>
            <a:r>
              <a:rPr dirty="0"/>
              <a:t>Quota</a:t>
            </a:r>
            <a:r>
              <a:rPr spc="-50" dirty="0"/>
              <a:t> </a:t>
            </a:r>
            <a:r>
              <a:rPr dirty="0"/>
              <a:t>di</a:t>
            </a:r>
            <a:r>
              <a:rPr spc="-35" dirty="0"/>
              <a:t> </a:t>
            </a:r>
            <a:r>
              <a:rPr dirty="0"/>
              <a:t>riserve</a:t>
            </a:r>
            <a:r>
              <a:rPr spc="-60" dirty="0"/>
              <a:t> </a:t>
            </a:r>
            <a:r>
              <a:rPr dirty="0"/>
              <a:t>di</a:t>
            </a:r>
            <a:r>
              <a:rPr spc="-40" dirty="0"/>
              <a:t> </a:t>
            </a:r>
            <a:r>
              <a:rPr dirty="0"/>
              <a:t>capitale</a:t>
            </a:r>
            <a:r>
              <a:rPr spc="-60" dirty="0"/>
              <a:t> </a:t>
            </a:r>
            <a:r>
              <a:rPr dirty="0"/>
              <a:t>utilizzate</a:t>
            </a:r>
            <a:r>
              <a:rPr spc="-60" dirty="0"/>
              <a:t> </a:t>
            </a:r>
            <a:r>
              <a:rPr dirty="0"/>
              <a:t>sul</a:t>
            </a:r>
            <a:r>
              <a:rPr spc="-50" dirty="0"/>
              <a:t> </a:t>
            </a:r>
            <a:r>
              <a:rPr dirty="0"/>
              <a:t>valore</a:t>
            </a:r>
            <a:r>
              <a:rPr spc="-45" dirty="0"/>
              <a:t> </a:t>
            </a:r>
            <a:r>
              <a:rPr dirty="0"/>
              <a:t>fiscale</a:t>
            </a:r>
            <a:r>
              <a:rPr spc="-45" dirty="0"/>
              <a:t> </a:t>
            </a:r>
            <a:r>
              <a:rPr spc="-10" dirty="0"/>
              <a:t>(%</a:t>
            </a:r>
            <a:r>
              <a:rPr spc="-10" dirty="0" err="1"/>
              <a:t>Ris</a:t>
            </a:r>
            <a:r>
              <a:rPr spc="-10" dirty="0"/>
              <a:t>) </a:t>
            </a:r>
            <a:r>
              <a:rPr spc="-20" dirty="0"/>
              <a:t>Valore</a:t>
            </a:r>
            <a:r>
              <a:rPr spc="-30" dirty="0"/>
              <a:t> </a:t>
            </a:r>
            <a:r>
              <a:rPr dirty="0"/>
              <a:t>della</a:t>
            </a:r>
            <a:r>
              <a:rPr spc="-40" dirty="0"/>
              <a:t> </a:t>
            </a:r>
            <a:r>
              <a:rPr spc="-10" dirty="0"/>
              <a:t>partecipazione</a:t>
            </a:r>
            <a:r>
              <a:rPr spc="-50" dirty="0"/>
              <a:t> </a:t>
            </a:r>
            <a:r>
              <a:rPr dirty="0"/>
              <a:t>ante</a:t>
            </a:r>
            <a:r>
              <a:rPr spc="-15" dirty="0"/>
              <a:t> </a:t>
            </a:r>
            <a:r>
              <a:rPr dirty="0"/>
              <a:t>assegnazione</a:t>
            </a:r>
            <a:r>
              <a:rPr spc="-50" dirty="0"/>
              <a:t> </a:t>
            </a:r>
            <a:r>
              <a:rPr spc="-20" dirty="0"/>
              <a:t>(VP)</a:t>
            </a:r>
          </a:p>
        </p:txBody>
      </p:sp>
      <p:graphicFrame>
        <p:nvGraphicFramePr>
          <p:cNvPr id="160" name="Diagramma 159">
            <a:extLst>
              <a:ext uri="{FF2B5EF4-FFF2-40B4-BE49-F238E27FC236}">
                <a16:creationId xmlns:a16="http://schemas.microsoft.com/office/drawing/2014/main" id="{ED862754-8E20-F061-E259-C96757021A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4291116"/>
              </p:ext>
            </p:extLst>
          </p:nvPr>
        </p:nvGraphicFramePr>
        <p:xfrm>
          <a:off x="353204" y="1273112"/>
          <a:ext cx="8534400" cy="4311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Titolo 1">
            <a:extLst>
              <a:ext uri="{FF2B5EF4-FFF2-40B4-BE49-F238E27FC236}">
                <a16:creationId xmlns:a16="http://schemas.microsoft.com/office/drawing/2014/main" id="{FD8ED5AD-D5BD-729A-EB43-B4DF2A6CE27D}"/>
              </a:ext>
            </a:extLst>
          </p:cNvPr>
          <p:cNvSpPr txBox="1">
            <a:spLocks/>
          </p:cNvSpPr>
          <p:nvPr/>
        </p:nvSpPr>
        <p:spPr bwMode="auto">
          <a:xfrm>
            <a:off x="0" y="187412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Le variabili del problema</a:t>
            </a:r>
          </a:p>
        </p:txBody>
      </p:sp>
      <p:sp>
        <p:nvSpPr>
          <p:cNvPr id="27" name="Segnaposto numero diapositiva 26">
            <a:extLst>
              <a:ext uri="{FF2B5EF4-FFF2-40B4-BE49-F238E27FC236}">
                <a16:creationId xmlns:a16="http://schemas.microsoft.com/office/drawing/2014/main" id="{83C99E6B-8E53-E888-C488-954BF43215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5</a:t>
            </a:fld>
            <a:endParaRPr lang="it-I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58841" y="1349247"/>
            <a:ext cx="748093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Courier New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Imponibile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Imposta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sostitutiva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(IIS)</a:t>
            </a:r>
            <a:r>
              <a:rPr sz="32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320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70" dirty="0">
                <a:solidFill>
                  <a:srgbClr val="FF0000"/>
                </a:solidFill>
                <a:latin typeface="Calibri"/>
                <a:cs typeface="Calibri"/>
              </a:rPr>
              <a:t>VA-</a:t>
            </a:r>
            <a:r>
              <a:rPr sz="3200" spc="-25" dirty="0">
                <a:solidFill>
                  <a:srgbClr val="FF0000"/>
                </a:solidFill>
                <a:latin typeface="Calibri"/>
                <a:cs typeface="Calibri"/>
              </a:rPr>
              <a:t>VF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5795535" y="852423"/>
            <a:ext cx="3092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calcoli</a:t>
            </a:r>
            <a:r>
              <a:rPr sz="1800" i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delle</a:t>
            </a:r>
            <a:r>
              <a:rPr sz="1800" i="1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imposte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sostitutive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8" name="object 1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532" y="2878327"/>
            <a:ext cx="844296" cy="845819"/>
          </a:xfrm>
          <a:prstGeom prst="rect">
            <a:avLst/>
          </a:prstGeom>
        </p:spPr>
      </p:pic>
      <p:sp>
        <p:nvSpPr>
          <p:cNvPr id="149" name="object 149"/>
          <p:cNvSpPr txBox="1"/>
          <p:nvPr/>
        </p:nvSpPr>
        <p:spPr>
          <a:xfrm>
            <a:off x="755670" y="2969258"/>
            <a:ext cx="514984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60" dirty="0">
                <a:solidFill>
                  <a:srgbClr val="FFFFFF"/>
                </a:solidFill>
                <a:latin typeface="Calibri"/>
                <a:cs typeface="Calibri"/>
              </a:rPr>
              <a:t>VA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150" name="object 1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107" y="3964153"/>
            <a:ext cx="355143" cy="117003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8532" y="4316984"/>
            <a:ext cx="844296" cy="841247"/>
          </a:xfrm>
          <a:prstGeom prst="rect">
            <a:avLst/>
          </a:prstGeom>
        </p:spPr>
      </p:pic>
      <p:sp>
        <p:nvSpPr>
          <p:cNvPr id="152" name="object 152"/>
          <p:cNvSpPr txBox="1"/>
          <p:nvPr/>
        </p:nvSpPr>
        <p:spPr>
          <a:xfrm>
            <a:off x="770909" y="4407913"/>
            <a:ext cx="482600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25" dirty="0">
                <a:solidFill>
                  <a:srgbClr val="FFFFFF"/>
                </a:solidFill>
                <a:latin typeface="Calibri"/>
                <a:cs typeface="Calibri"/>
              </a:rPr>
              <a:t>VF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153" name="object 15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39506" y="3859784"/>
            <a:ext cx="280415" cy="321563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09839" y="3186176"/>
            <a:ext cx="1664618" cy="1668779"/>
          </a:xfrm>
          <a:prstGeom prst="rect">
            <a:avLst/>
          </a:prstGeom>
        </p:spPr>
      </p:pic>
      <p:sp>
        <p:nvSpPr>
          <p:cNvPr id="155" name="object 155"/>
          <p:cNvSpPr txBox="1"/>
          <p:nvPr/>
        </p:nvSpPr>
        <p:spPr>
          <a:xfrm>
            <a:off x="2333009" y="3415790"/>
            <a:ext cx="822960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0" spc="-25" dirty="0">
                <a:solidFill>
                  <a:srgbClr val="FFFFFF"/>
                </a:solidFill>
                <a:latin typeface="Calibri"/>
                <a:cs typeface="Calibri"/>
              </a:rPr>
              <a:t>IIS</a:t>
            </a:r>
            <a:endParaRPr sz="6500">
              <a:latin typeface="Calibri"/>
              <a:cs typeface="Calibri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3401834" y="2579623"/>
            <a:ext cx="2329180" cy="3281679"/>
            <a:chOff x="3401834" y="2579623"/>
            <a:chExt cx="2329180" cy="3281679"/>
          </a:xfrm>
        </p:grpSpPr>
        <p:pic>
          <p:nvPicPr>
            <p:cNvPr id="157" name="object 1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06406" y="2579623"/>
              <a:ext cx="2324100" cy="1286255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17303" y="2930271"/>
              <a:ext cx="1568791" cy="646049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01834" y="4064000"/>
              <a:ext cx="2174748" cy="1796795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36759" y="4542536"/>
              <a:ext cx="976122" cy="753884"/>
            </a:xfrm>
            <a:prstGeom prst="rect">
              <a:avLst/>
            </a:prstGeom>
          </p:spPr>
        </p:pic>
      </p:grpSp>
      <p:pic>
        <p:nvPicPr>
          <p:cNvPr id="161" name="object 16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66143" y="2588767"/>
            <a:ext cx="334204" cy="333049"/>
          </a:xfrm>
          <a:prstGeom prst="rect">
            <a:avLst/>
          </a:prstGeom>
        </p:spPr>
      </p:pic>
      <p:pic>
        <p:nvPicPr>
          <p:cNvPr id="162" name="object 16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48311" y="2504948"/>
            <a:ext cx="949452" cy="533400"/>
          </a:xfrm>
          <a:prstGeom prst="rect">
            <a:avLst/>
          </a:prstGeom>
        </p:spPr>
      </p:pic>
      <p:pic>
        <p:nvPicPr>
          <p:cNvPr id="163" name="object 16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66143" y="5443220"/>
            <a:ext cx="334204" cy="334536"/>
          </a:xfrm>
          <a:prstGeom prst="rect">
            <a:avLst/>
          </a:prstGeom>
        </p:spPr>
      </p:pic>
      <p:pic>
        <p:nvPicPr>
          <p:cNvPr id="164" name="object 16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323343" y="5360923"/>
            <a:ext cx="1876044" cy="624840"/>
          </a:xfrm>
          <a:prstGeom prst="rect">
            <a:avLst/>
          </a:prstGeom>
        </p:spPr>
      </p:pic>
      <p:pic>
        <p:nvPicPr>
          <p:cNvPr id="165" name="object 16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976176" y="3860345"/>
            <a:ext cx="550565" cy="316992"/>
          </a:xfrm>
          <a:prstGeom prst="rect">
            <a:avLst/>
          </a:prstGeom>
        </p:spPr>
      </p:pic>
      <p:pic>
        <p:nvPicPr>
          <p:cNvPr id="166" name="object 16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704087" y="3506215"/>
            <a:ext cx="1185672" cy="1024127"/>
          </a:xfrm>
          <a:prstGeom prst="rect">
            <a:avLst/>
          </a:prstGeom>
        </p:spPr>
      </p:pic>
      <p:sp>
        <p:nvSpPr>
          <p:cNvPr id="167" name="object 167"/>
          <p:cNvSpPr txBox="1"/>
          <p:nvPr/>
        </p:nvSpPr>
        <p:spPr>
          <a:xfrm>
            <a:off x="7990095" y="3408170"/>
            <a:ext cx="614045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0" spc="-2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endParaRPr sz="6500">
              <a:latin typeface="Calibri"/>
              <a:cs typeface="Calibri"/>
            </a:endParaRPr>
          </a:p>
        </p:txBody>
      </p:sp>
      <p:sp>
        <p:nvSpPr>
          <p:cNvPr id="168" name="Rettangolo 167">
            <a:extLst>
              <a:ext uri="{FF2B5EF4-FFF2-40B4-BE49-F238E27FC236}">
                <a16:creationId xmlns:a16="http://schemas.microsoft.com/office/drawing/2014/main" id="{484F02CA-1167-5522-08C7-155D024BF3F5}"/>
              </a:ext>
            </a:extLst>
          </p:cNvPr>
          <p:cNvSpPr/>
          <p:nvPr/>
        </p:nvSpPr>
        <p:spPr>
          <a:xfrm>
            <a:off x="3958413" y="3780459"/>
            <a:ext cx="1127233" cy="3231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 anni su 3</a:t>
            </a:r>
            <a:endParaRPr lang="it-IT" sz="15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Titolo 1">
            <a:extLst>
              <a:ext uri="{FF2B5EF4-FFF2-40B4-BE49-F238E27FC236}">
                <a16:creationId xmlns:a16="http://schemas.microsoft.com/office/drawing/2014/main" id="{2430BCAD-2AF8-73A8-DCE8-E863BB7BD790}"/>
              </a:ext>
            </a:extLst>
          </p:cNvPr>
          <p:cNvSpPr txBox="1">
            <a:spLocks/>
          </p:cNvSpPr>
          <p:nvPr/>
        </p:nvSpPr>
        <p:spPr bwMode="auto">
          <a:xfrm>
            <a:off x="53614" y="186719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I calcoli delle imposte sostitutive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B47F191D-6AE5-60E9-975E-BEFCBABBA9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6</a:t>
            </a:fld>
            <a:endParaRPr 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58841" y="1349247"/>
            <a:ext cx="46456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Courier New"/>
              <a:buChar char="•"/>
              <a:tabLst>
                <a:tab pos="354965" algn="l"/>
              </a:tabLst>
            </a:pPr>
            <a:r>
              <a:rPr sz="3200" spc="-25" dirty="0">
                <a:latin typeface="Calibri"/>
                <a:cs typeface="Calibri"/>
              </a:rPr>
              <a:t>VALORE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SOCIO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0000"/>
                </a:solidFill>
                <a:latin typeface="Calibri"/>
                <a:cs typeface="Calibri"/>
              </a:rPr>
              <a:t>(VS)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3501916" y="852423"/>
            <a:ext cx="538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valore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rilevante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800" i="1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socio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società</a:t>
            </a:r>
            <a:r>
              <a:rPr sz="1800" i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capitali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8" name="object 1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596" y="2081276"/>
            <a:ext cx="858011" cy="853439"/>
          </a:xfrm>
          <a:prstGeom prst="rect">
            <a:avLst/>
          </a:prstGeom>
        </p:spPr>
      </p:pic>
      <p:sp>
        <p:nvSpPr>
          <p:cNvPr id="149" name="object 149"/>
          <p:cNvSpPr txBox="1"/>
          <p:nvPr/>
        </p:nvSpPr>
        <p:spPr>
          <a:xfrm>
            <a:off x="510306" y="2175255"/>
            <a:ext cx="514984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60" dirty="0">
                <a:solidFill>
                  <a:srgbClr val="FFFFFF"/>
                </a:solidFill>
                <a:latin typeface="Calibri"/>
                <a:cs typeface="Calibri"/>
              </a:rPr>
              <a:t>VA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150" name="object 1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753" y="3182439"/>
            <a:ext cx="363880" cy="118380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8596" y="3544316"/>
            <a:ext cx="858011" cy="853439"/>
          </a:xfrm>
          <a:prstGeom prst="rect">
            <a:avLst/>
          </a:prstGeom>
        </p:spPr>
      </p:pic>
      <p:sp>
        <p:nvSpPr>
          <p:cNvPr id="152" name="object 152"/>
          <p:cNvSpPr txBox="1"/>
          <p:nvPr/>
        </p:nvSpPr>
        <p:spPr>
          <a:xfrm>
            <a:off x="539262" y="3638294"/>
            <a:ext cx="45529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25" dirty="0">
                <a:solidFill>
                  <a:srgbClr val="FFFFFF"/>
                </a:solidFill>
                <a:latin typeface="Calibri"/>
                <a:cs typeface="Calibri"/>
              </a:rPr>
              <a:t>IIS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153" name="object 15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3287" y="3074923"/>
            <a:ext cx="283463" cy="329184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81239" y="2389123"/>
            <a:ext cx="1697735" cy="1696211"/>
          </a:xfrm>
          <a:prstGeom prst="rect">
            <a:avLst/>
          </a:prstGeom>
        </p:spPr>
      </p:pic>
      <p:sp>
        <p:nvSpPr>
          <p:cNvPr id="155" name="object 155"/>
          <p:cNvSpPr txBox="1"/>
          <p:nvPr/>
        </p:nvSpPr>
        <p:spPr>
          <a:xfrm>
            <a:off x="2095265" y="2633978"/>
            <a:ext cx="869950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0" spc="-25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endParaRPr sz="6500">
              <a:latin typeface="Calibri"/>
              <a:cs typeface="Calibri"/>
            </a:endParaRPr>
          </a:p>
        </p:txBody>
      </p:sp>
      <p:pic>
        <p:nvPicPr>
          <p:cNvPr id="156" name="object 15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73463" y="2102357"/>
            <a:ext cx="2257044" cy="532383"/>
          </a:xfrm>
          <a:prstGeom prst="rect">
            <a:avLst/>
          </a:prstGeom>
        </p:spPr>
      </p:pic>
      <p:sp>
        <p:nvSpPr>
          <p:cNvPr id="157" name="object 157"/>
          <p:cNvSpPr txBox="1"/>
          <p:nvPr/>
        </p:nvSpPr>
        <p:spPr>
          <a:xfrm>
            <a:off x="3863104" y="2204211"/>
            <a:ext cx="1347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VA&lt;VF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IIS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973577" y="3680723"/>
            <a:ext cx="4676513" cy="2397234"/>
            <a:chOff x="766838" y="3361435"/>
            <a:chExt cx="4893945" cy="3355975"/>
          </a:xfrm>
        </p:grpSpPr>
        <p:pic>
          <p:nvPicPr>
            <p:cNvPr id="159" name="object 1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31731" y="3361435"/>
              <a:ext cx="2328672" cy="1185672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3816363" y="3690620"/>
              <a:ext cx="1249680" cy="487680"/>
            </a:xfrm>
            <a:custGeom>
              <a:avLst/>
              <a:gdLst/>
              <a:ahLst/>
              <a:cxnLst/>
              <a:rect l="l" t="t" r="r" b="b"/>
              <a:pathLst>
                <a:path w="1249679" h="487679">
                  <a:moveTo>
                    <a:pt x="117348" y="38100"/>
                  </a:moveTo>
                  <a:lnTo>
                    <a:pt x="117348" y="32004"/>
                  </a:lnTo>
                  <a:lnTo>
                    <a:pt x="114300" y="32004"/>
                  </a:lnTo>
                  <a:lnTo>
                    <a:pt x="112776" y="30480"/>
                  </a:lnTo>
                  <a:lnTo>
                    <a:pt x="111252" y="30480"/>
                  </a:lnTo>
                  <a:lnTo>
                    <a:pt x="108204" y="28956"/>
                  </a:lnTo>
                  <a:lnTo>
                    <a:pt x="100584" y="28956"/>
                  </a:lnTo>
                  <a:lnTo>
                    <a:pt x="100584" y="30480"/>
                  </a:lnTo>
                  <a:lnTo>
                    <a:pt x="99060" y="30480"/>
                  </a:lnTo>
                  <a:lnTo>
                    <a:pt x="27432" y="137160"/>
                  </a:lnTo>
                  <a:lnTo>
                    <a:pt x="21336" y="9144"/>
                  </a:lnTo>
                  <a:lnTo>
                    <a:pt x="19812" y="7620"/>
                  </a:lnTo>
                  <a:lnTo>
                    <a:pt x="19812" y="4572"/>
                  </a:lnTo>
                  <a:lnTo>
                    <a:pt x="18288" y="4572"/>
                  </a:lnTo>
                  <a:lnTo>
                    <a:pt x="16764" y="3048"/>
                  </a:lnTo>
                  <a:lnTo>
                    <a:pt x="13716" y="3048"/>
                  </a:lnTo>
                  <a:lnTo>
                    <a:pt x="12192" y="1524"/>
                  </a:lnTo>
                  <a:lnTo>
                    <a:pt x="6096" y="1524"/>
                  </a:lnTo>
                  <a:lnTo>
                    <a:pt x="4572" y="0"/>
                  </a:lnTo>
                  <a:lnTo>
                    <a:pt x="3048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1524" y="4572"/>
                  </a:lnTo>
                  <a:lnTo>
                    <a:pt x="0" y="4572"/>
                  </a:lnTo>
                  <a:lnTo>
                    <a:pt x="1524" y="7620"/>
                  </a:lnTo>
                  <a:lnTo>
                    <a:pt x="9144" y="149352"/>
                  </a:lnTo>
                  <a:lnTo>
                    <a:pt x="10668" y="150876"/>
                  </a:lnTo>
                  <a:lnTo>
                    <a:pt x="10668" y="152400"/>
                  </a:lnTo>
                  <a:lnTo>
                    <a:pt x="12192" y="152400"/>
                  </a:lnTo>
                  <a:lnTo>
                    <a:pt x="12192" y="153924"/>
                  </a:lnTo>
                  <a:lnTo>
                    <a:pt x="15240" y="153924"/>
                  </a:lnTo>
                  <a:lnTo>
                    <a:pt x="15240" y="155448"/>
                  </a:lnTo>
                  <a:lnTo>
                    <a:pt x="19812" y="155448"/>
                  </a:lnTo>
                  <a:lnTo>
                    <a:pt x="21336" y="156972"/>
                  </a:lnTo>
                  <a:lnTo>
                    <a:pt x="24384" y="156972"/>
                  </a:lnTo>
                  <a:lnTo>
                    <a:pt x="25908" y="158496"/>
                  </a:lnTo>
                  <a:lnTo>
                    <a:pt x="32004" y="158496"/>
                  </a:lnTo>
                  <a:lnTo>
                    <a:pt x="32004" y="156972"/>
                  </a:lnTo>
                  <a:lnTo>
                    <a:pt x="33528" y="156972"/>
                  </a:lnTo>
                  <a:lnTo>
                    <a:pt x="33528" y="155448"/>
                  </a:lnTo>
                  <a:lnTo>
                    <a:pt x="115824" y="39624"/>
                  </a:lnTo>
                  <a:lnTo>
                    <a:pt x="117348" y="38100"/>
                  </a:lnTo>
                  <a:close/>
                </a:path>
                <a:path w="1249679" h="487679">
                  <a:moveTo>
                    <a:pt x="211836" y="70104"/>
                  </a:moveTo>
                  <a:lnTo>
                    <a:pt x="211836" y="59436"/>
                  </a:lnTo>
                  <a:lnTo>
                    <a:pt x="210312" y="59436"/>
                  </a:lnTo>
                  <a:lnTo>
                    <a:pt x="147828" y="41148"/>
                  </a:lnTo>
                  <a:lnTo>
                    <a:pt x="143256" y="41148"/>
                  </a:lnTo>
                  <a:lnTo>
                    <a:pt x="140208" y="44196"/>
                  </a:lnTo>
                  <a:lnTo>
                    <a:pt x="138684" y="47244"/>
                  </a:lnTo>
                  <a:lnTo>
                    <a:pt x="102108" y="175260"/>
                  </a:lnTo>
                  <a:lnTo>
                    <a:pt x="102108" y="178308"/>
                  </a:lnTo>
                  <a:lnTo>
                    <a:pt x="103632" y="178308"/>
                  </a:lnTo>
                  <a:lnTo>
                    <a:pt x="105156" y="179832"/>
                  </a:lnTo>
                  <a:lnTo>
                    <a:pt x="106680" y="179832"/>
                  </a:lnTo>
                  <a:lnTo>
                    <a:pt x="108204" y="181356"/>
                  </a:lnTo>
                  <a:lnTo>
                    <a:pt x="111252" y="181356"/>
                  </a:lnTo>
                  <a:lnTo>
                    <a:pt x="112776" y="182880"/>
                  </a:lnTo>
                  <a:lnTo>
                    <a:pt x="120396" y="182880"/>
                  </a:lnTo>
                  <a:lnTo>
                    <a:pt x="120396" y="181356"/>
                  </a:lnTo>
                  <a:lnTo>
                    <a:pt x="137160" y="123444"/>
                  </a:lnTo>
                  <a:lnTo>
                    <a:pt x="141732" y="124729"/>
                  </a:lnTo>
                  <a:lnTo>
                    <a:pt x="141732" y="108204"/>
                  </a:lnTo>
                  <a:lnTo>
                    <a:pt x="155448" y="60960"/>
                  </a:lnTo>
                  <a:lnTo>
                    <a:pt x="205740" y="74676"/>
                  </a:lnTo>
                  <a:lnTo>
                    <a:pt x="208788" y="74676"/>
                  </a:lnTo>
                  <a:lnTo>
                    <a:pt x="210312" y="73152"/>
                  </a:lnTo>
                  <a:lnTo>
                    <a:pt x="210312" y="71628"/>
                  </a:lnTo>
                  <a:lnTo>
                    <a:pt x="211836" y="70104"/>
                  </a:lnTo>
                  <a:close/>
                </a:path>
                <a:path w="1249679" h="487679">
                  <a:moveTo>
                    <a:pt x="118872" y="36576"/>
                  </a:moveTo>
                  <a:lnTo>
                    <a:pt x="118872" y="33528"/>
                  </a:lnTo>
                  <a:lnTo>
                    <a:pt x="117348" y="33528"/>
                  </a:lnTo>
                  <a:lnTo>
                    <a:pt x="117348" y="36576"/>
                  </a:lnTo>
                  <a:lnTo>
                    <a:pt x="118872" y="36576"/>
                  </a:lnTo>
                  <a:close/>
                </a:path>
                <a:path w="1249679" h="487679">
                  <a:moveTo>
                    <a:pt x="192024" y="129540"/>
                  </a:moveTo>
                  <a:lnTo>
                    <a:pt x="192024" y="121920"/>
                  </a:lnTo>
                  <a:lnTo>
                    <a:pt x="190500" y="121920"/>
                  </a:lnTo>
                  <a:lnTo>
                    <a:pt x="141732" y="108204"/>
                  </a:lnTo>
                  <a:lnTo>
                    <a:pt x="141732" y="124729"/>
                  </a:lnTo>
                  <a:lnTo>
                    <a:pt x="185928" y="137160"/>
                  </a:lnTo>
                  <a:lnTo>
                    <a:pt x="187452" y="137160"/>
                  </a:lnTo>
                  <a:lnTo>
                    <a:pt x="190500" y="134112"/>
                  </a:lnTo>
                  <a:lnTo>
                    <a:pt x="190500" y="131064"/>
                  </a:lnTo>
                  <a:lnTo>
                    <a:pt x="192024" y="129540"/>
                  </a:lnTo>
                  <a:close/>
                </a:path>
                <a:path w="1249679" h="487679">
                  <a:moveTo>
                    <a:pt x="313944" y="123444"/>
                  </a:moveTo>
                  <a:lnTo>
                    <a:pt x="313944" y="115824"/>
                  </a:lnTo>
                  <a:lnTo>
                    <a:pt x="310896" y="115824"/>
                  </a:lnTo>
                  <a:lnTo>
                    <a:pt x="214884" y="134112"/>
                  </a:lnTo>
                  <a:lnTo>
                    <a:pt x="213360" y="134112"/>
                  </a:lnTo>
                  <a:lnTo>
                    <a:pt x="213360" y="135636"/>
                  </a:lnTo>
                  <a:lnTo>
                    <a:pt x="211836" y="135636"/>
                  </a:lnTo>
                  <a:lnTo>
                    <a:pt x="211836" y="137160"/>
                  </a:lnTo>
                  <a:lnTo>
                    <a:pt x="210312" y="137160"/>
                  </a:lnTo>
                  <a:lnTo>
                    <a:pt x="210312" y="140208"/>
                  </a:lnTo>
                  <a:lnTo>
                    <a:pt x="208788" y="141732"/>
                  </a:lnTo>
                  <a:lnTo>
                    <a:pt x="208788" y="150876"/>
                  </a:lnTo>
                  <a:lnTo>
                    <a:pt x="227076" y="167640"/>
                  </a:lnTo>
                  <a:lnTo>
                    <a:pt x="227076" y="147828"/>
                  </a:lnTo>
                  <a:lnTo>
                    <a:pt x="306324" y="132588"/>
                  </a:lnTo>
                  <a:lnTo>
                    <a:pt x="309372" y="132588"/>
                  </a:lnTo>
                  <a:lnTo>
                    <a:pt x="310896" y="131064"/>
                  </a:lnTo>
                  <a:lnTo>
                    <a:pt x="310896" y="129540"/>
                  </a:lnTo>
                  <a:lnTo>
                    <a:pt x="312420" y="128016"/>
                  </a:lnTo>
                  <a:lnTo>
                    <a:pt x="312420" y="124968"/>
                  </a:lnTo>
                  <a:lnTo>
                    <a:pt x="313944" y="123444"/>
                  </a:lnTo>
                  <a:close/>
                </a:path>
                <a:path w="1249679" h="487679">
                  <a:moveTo>
                    <a:pt x="213360" y="65532"/>
                  </a:moveTo>
                  <a:lnTo>
                    <a:pt x="213360" y="62484"/>
                  </a:lnTo>
                  <a:lnTo>
                    <a:pt x="211836" y="60960"/>
                  </a:lnTo>
                  <a:lnTo>
                    <a:pt x="211836" y="67056"/>
                  </a:lnTo>
                  <a:lnTo>
                    <a:pt x="213360" y="65532"/>
                  </a:lnTo>
                  <a:close/>
                </a:path>
                <a:path w="1249679" h="487679">
                  <a:moveTo>
                    <a:pt x="289560" y="208788"/>
                  </a:moveTo>
                  <a:lnTo>
                    <a:pt x="289560" y="202692"/>
                  </a:lnTo>
                  <a:lnTo>
                    <a:pt x="286512" y="199644"/>
                  </a:lnTo>
                  <a:lnTo>
                    <a:pt x="227076" y="147828"/>
                  </a:lnTo>
                  <a:lnTo>
                    <a:pt x="227076" y="167640"/>
                  </a:lnTo>
                  <a:lnTo>
                    <a:pt x="281940" y="217932"/>
                  </a:lnTo>
                  <a:lnTo>
                    <a:pt x="283464" y="219456"/>
                  </a:lnTo>
                  <a:lnTo>
                    <a:pt x="284988" y="219456"/>
                  </a:lnTo>
                  <a:lnTo>
                    <a:pt x="286512" y="217932"/>
                  </a:lnTo>
                  <a:lnTo>
                    <a:pt x="286512" y="216408"/>
                  </a:lnTo>
                  <a:lnTo>
                    <a:pt x="288036" y="214884"/>
                  </a:lnTo>
                  <a:lnTo>
                    <a:pt x="288036" y="210312"/>
                  </a:lnTo>
                  <a:lnTo>
                    <a:pt x="289560" y="208788"/>
                  </a:lnTo>
                  <a:close/>
                </a:path>
                <a:path w="1249679" h="487679">
                  <a:moveTo>
                    <a:pt x="454152" y="132588"/>
                  </a:moveTo>
                  <a:lnTo>
                    <a:pt x="454152" y="128016"/>
                  </a:lnTo>
                  <a:lnTo>
                    <a:pt x="452628" y="128016"/>
                  </a:lnTo>
                  <a:lnTo>
                    <a:pt x="451104" y="126492"/>
                  </a:lnTo>
                  <a:lnTo>
                    <a:pt x="448056" y="126492"/>
                  </a:lnTo>
                  <a:lnTo>
                    <a:pt x="446532" y="124968"/>
                  </a:lnTo>
                  <a:lnTo>
                    <a:pt x="441960" y="124968"/>
                  </a:lnTo>
                  <a:lnTo>
                    <a:pt x="441960" y="123444"/>
                  </a:lnTo>
                  <a:lnTo>
                    <a:pt x="437388" y="123444"/>
                  </a:lnTo>
                  <a:lnTo>
                    <a:pt x="437388" y="124968"/>
                  </a:lnTo>
                  <a:lnTo>
                    <a:pt x="435864" y="124968"/>
                  </a:lnTo>
                  <a:lnTo>
                    <a:pt x="434340" y="126492"/>
                  </a:lnTo>
                  <a:lnTo>
                    <a:pt x="362712" y="231648"/>
                  </a:lnTo>
                  <a:lnTo>
                    <a:pt x="356616" y="103632"/>
                  </a:lnTo>
                  <a:lnTo>
                    <a:pt x="356616" y="102108"/>
                  </a:lnTo>
                  <a:lnTo>
                    <a:pt x="353568" y="99060"/>
                  </a:lnTo>
                  <a:lnTo>
                    <a:pt x="350520" y="99060"/>
                  </a:lnTo>
                  <a:lnTo>
                    <a:pt x="348996" y="97536"/>
                  </a:lnTo>
                  <a:lnTo>
                    <a:pt x="347472" y="97536"/>
                  </a:lnTo>
                  <a:lnTo>
                    <a:pt x="344424" y="96012"/>
                  </a:lnTo>
                  <a:lnTo>
                    <a:pt x="336804" y="96012"/>
                  </a:lnTo>
                  <a:lnTo>
                    <a:pt x="336804" y="102108"/>
                  </a:lnTo>
                  <a:lnTo>
                    <a:pt x="345948" y="243840"/>
                  </a:lnTo>
                  <a:lnTo>
                    <a:pt x="345948" y="246888"/>
                  </a:lnTo>
                  <a:lnTo>
                    <a:pt x="347472" y="246888"/>
                  </a:lnTo>
                  <a:lnTo>
                    <a:pt x="347472" y="248412"/>
                  </a:lnTo>
                  <a:lnTo>
                    <a:pt x="348996" y="248412"/>
                  </a:lnTo>
                  <a:lnTo>
                    <a:pt x="350520" y="249936"/>
                  </a:lnTo>
                  <a:lnTo>
                    <a:pt x="353568" y="249936"/>
                  </a:lnTo>
                  <a:lnTo>
                    <a:pt x="353568" y="251460"/>
                  </a:lnTo>
                  <a:lnTo>
                    <a:pt x="359664" y="251460"/>
                  </a:lnTo>
                  <a:lnTo>
                    <a:pt x="361188" y="252984"/>
                  </a:lnTo>
                  <a:lnTo>
                    <a:pt x="368808" y="252984"/>
                  </a:lnTo>
                  <a:lnTo>
                    <a:pt x="368808" y="251460"/>
                  </a:lnTo>
                  <a:lnTo>
                    <a:pt x="370332" y="251460"/>
                  </a:lnTo>
                  <a:lnTo>
                    <a:pt x="452628" y="134112"/>
                  </a:lnTo>
                  <a:lnTo>
                    <a:pt x="454152" y="132588"/>
                  </a:lnTo>
                  <a:close/>
                </a:path>
                <a:path w="1249679" h="487679">
                  <a:moveTo>
                    <a:pt x="533400" y="298704"/>
                  </a:moveTo>
                  <a:lnTo>
                    <a:pt x="533400" y="294132"/>
                  </a:lnTo>
                  <a:lnTo>
                    <a:pt x="522732" y="150876"/>
                  </a:lnTo>
                  <a:lnTo>
                    <a:pt x="522732" y="147828"/>
                  </a:lnTo>
                  <a:lnTo>
                    <a:pt x="521208" y="147828"/>
                  </a:lnTo>
                  <a:lnTo>
                    <a:pt x="519684" y="146304"/>
                  </a:lnTo>
                  <a:lnTo>
                    <a:pt x="516636" y="146304"/>
                  </a:lnTo>
                  <a:lnTo>
                    <a:pt x="515112" y="144780"/>
                  </a:lnTo>
                  <a:lnTo>
                    <a:pt x="513588" y="144780"/>
                  </a:lnTo>
                  <a:lnTo>
                    <a:pt x="512064" y="143256"/>
                  </a:lnTo>
                  <a:lnTo>
                    <a:pt x="505968" y="143256"/>
                  </a:lnTo>
                  <a:lnTo>
                    <a:pt x="504444" y="141732"/>
                  </a:lnTo>
                  <a:lnTo>
                    <a:pt x="501396" y="141732"/>
                  </a:lnTo>
                  <a:lnTo>
                    <a:pt x="498348" y="144780"/>
                  </a:lnTo>
                  <a:lnTo>
                    <a:pt x="416052" y="260604"/>
                  </a:lnTo>
                  <a:lnTo>
                    <a:pt x="413004" y="263652"/>
                  </a:lnTo>
                  <a:lnTo>
                    <a:pt x="413004" y="266700"/>
                  </a:lnTo>
                  <a:lnTo>
                    <a:pt x="414528" y="266700"/>
                  </a:lnTo>
                  <a:lnTo>
                    <a:pt x="414528" y="268224"/>
                  </a:lnTo>
                  <a:lnTo>
                    <a:pt x="417576" y="268224"/>
                  </a:lnTo>
                  <a:lnTo>
                    <a:pt x="419100" y="269748"/>
                  </a:lnTo>
                  <a:lnTo>
                    <a:pt x="423672" y="269748"/>
                  </a:lnTo>
                  <a:lnTo>
                    <a:pt x="425196" y="271272"/>
                  </a:lnTo>
                  <a:lnTo>
                    <a:pt x="431292" y="271272"/>
                  </a:lnTo>
                  <a:lnTo>
                    <a:pt x="431292" y="269748"/>
                  </a:lnTo>
                  <a:lnTo>
                    <a:pt x="432816" y="268224"/>
                  </a:lnTo>
                  <a:lnTo>
                    <a:pt x="452628" y="239268"/>
                  </a:lnTo>
                  <a:lnTo>
                    <a:pt x="461772" y="241674"/>
                  </a:lnTo>
                  <a:lnTo>
                    <a:pt x="461772" y="225552"/>
                  </a:lnTo>
                  <a:lnTo>
                    <a:pt x="505968" y="163068"/>
                  </a:lnTo>
                  <a:lnTo>
                    <a:pt x="510540" y="239268"/>
                  </a:lnTo>
                  <a:lnTo>
                    <a:pt x="510540" y="254508"/>
                  </a:lnTo>
                  <a:lnTo>
                    <a:pt x="513588" y="292608"/>
                  </a:lnTo>
                  <a:lnTo>
                    <a:pt x="513588" y="294132"/>
                  </a:lnTo>
                  <a:lnTo>
                    <a:pt x="516636" y="297180"/>
                  </a:lnTo>
                  <a:lnTo>
                    <a:pt x="519684" y="297180"/>
                  </a:lnTo>
                  <a:lnTo>
                    <a:pt x="521208" y="298704"/>
                  </a:lnTo>
                  <a:lnTo>
                    <a:pt x="525780" y="298704"/>
                  </a:lnTo>
                  <a:lnTo>
                    <a:pt x="527304" y="300228"/>
                  </a:lnTo>
                  <a:lnTo>
                    <a:pt x="531876" y="300228"/>
                  </a:lnTo>
                  <a:lnTo>
                    <a:pt x="531876" y="298704"/>
                  </a:lnTo>
                  <a:lnTo>
                    <a:pt x="533400" y="298704"/>
                  </a:lnTo>
                  <a:close/>
                </a:path>
                <a:path w="1249679" h="487679">
                  <a:moveTo>
                    <a:pt x="510540" y="254508"/>
                  </a:moveTo>
                  <a:lnTo>
                    <a:pt x="510540" y="239268"/>
                  </a:lnTo>
                  <a:lnTo>
                    <a:pt x="461772" y="225552"/>
                  </a:lnTo>
                  <a:lnTo>
                    <a:pt x="461772" y="241674"/>
                  </a:lnTo>
                  <a:lnTo>
                    <a:pt x="510540" y="254508"/>
                  </a:lnTo>
                  <a:close/>
                </a:path>
                <a:path w="1249679" h="487679">
                  <a:moveTo>
                    <a:pt x="630936" y="245364"/>
                  </a:moveTo>
                  <a:lnTo>
                    <a:pt x="630936" y="236220"/>
                  </a:lnTo>
                  <a:lnTo>
                    <a:pt x="629412" y="237744"/>
                  </a:lnTo>
                  <a:lnTo>
                    <a:pt x="629412" y="245364"/>
                  </a:lnTo>
                  <a:lnTo>
                    <a:pt x="630936" y="245364"/>
                  </a:lnTo>
                  <a:close/>
                </a:path>
                <a:path w="1249679" h="487679">
                  <a:moveTo>
                    <a:pt x="653796" y="242316"/>
                  </a:moveTo>
                  <a:lnTo>
                    <a:pt x="653796" y="230124"/>
                  </a:lnTo>
                  <a:lnTo>
                    <a:pt x="652272" y="228600"/>
                  </a:lnTo>
                  <a:lnTo>
                    <a:pt x="650748" y="228600"/>
                  </a:lnTo>
                  <a:lnTo>
                    <a:pt x="649224" y="227076"/>
                  </a:lnTo>
                  <a:lnTo>
                    <a:pt x="647700" y="227076"/>
                  </a:lnTo>
                  <a:lnTo>
                    <a:pt x="646176" y="225552"/>
                  </a:lnTo>
                  <a:lnTo>
                    <a:pt x="637032" y="225552"/>
                  </a:lnTo>
                  <a:lnTo>
                    <a:pt x="635508" y="227076"/>
                  </a:lnTo>
                  <a:lnTo>
                    <a:pt x="633984" y="227076"/>
                  </a:lnTo>
                  <a:lnTo>
                    <a:pt x="633984" y="228600"/>
                  </a:lnTo>
                  <a:lnTo>
                    <a:pt x="632460" y="230124"/>
                  </a:lnTo>
                  <a:lnTo>
                    <a:pt x="632460" y="231648"/>
                  </a:lnTo>
                  <a:lnTo>
                    <a:pt x="630936" y="233172"/>
                  </a:lnTo>
                  <a:lnTo>
                    <a:pt x="630936" y="246888"/>
                  </a:lnTo>
                  <a:lnTo>
                    <a:pt x="633984" y="249936"/>
                  </a:lnTo>
                  <a:lnTo>
                    <a:pt x="635508" y="249936"/>
                  </a:lnTo>
                  <a:lnTo>
                    <a:pt x="638556" y="251460"/>
                  </a:lnTo>
                  <a:lnTo>
                    <a:pt x="647700" y="251460"/>
                  </a:lnTo>
                  <a:lnTo>
                    <a:pt x="652272" y="246888"/>
                  </a:lnTo>
                  <a:lnTo>
                    <a:pt x="652272" y="243840"/>
                  </a:lnTo>
                  <a:lnTo>
                    <a:pt x="653796" y="242316"/>
                  </a:lnTo>
                  <a:close/>
                </a:path>
                <a:path w="1249679" h="487679">
                  <a:moveTo>
                    <a:pt x="655320" y="234696"/>
                  </a:moveTo>
                  <a:lnTo>
                    <a:pt x="653796" y="233172"/>
                  </a:lnTo>
                  <a:lnTo>
                    <a:pt x="653796" y="236220"/>
                  </a:lnTo>
                  <a:lnTo>
                    <a:pt x="655320" y="234696"/>
                  </a:lnTo>
                  <a:close/>
                </a:path>
                <a:path w="1249679" h="487679">
                  <a:moveTo>
                    <a:pt x="629412" y="323088"/>
                  </a:moveTo>
                  <a:lnTo>
                    <a:pt x="629412" y="301752"/>
                  </a:lnTo>
                  <a:lnTo>
                    <a:pt x="626364" y="301752"/>
                  </a:lnTo>
                  <a:lnTo>
                    <a:pt x="623316" y="300228"/>
                  </a:lnTo>
                  <a:lnTo>
                    <a:pt x="615696" y="300228"/>
                  </a:lnTo>
                  <a:lnTo>
                    <a:pt x="615696" y="301752"/>
                  </a:lnTo>
                  <a:lnTo>
                    <a:pt x="614172" y="301752"/>
                  </a:lnTo>
                  <a:lnTo>
                    <a:pt x="614172" y="303276"/>
                  </a:lnTo>
                  <a:lnTo>
                    <a:pt x="612648" y="304800"/>
                  </a:lnTo>
                  <a:lnTo>
                    <a:pt x="612648" y="306324"/>
                  </a:lnTo>
                  <a:lnTo>
                    <a:pt x="609600" y="320040"/>
                  </a:lnTo>
                  <a:lnTo>
                    <a:pt x="586740" y="345948"/>
                  </a:lnTo>
                  <a:lnTo>
                    <a:pt x="585216" y="347472"/>
                  </a:lnTo>
                  <a:lnTo>
                    <a:pt x="586740" y="348996"/>
                  </a:lnTo>
                  <a:lnTo>
                    <a:pt x="588264" y="348996"/>
                  </a:lnTo>
                  <a:lnTo>
                    <a:pt x="588264" y="350520"/>
                  </a:lnTo>
                  <a:lnTo>
                    <a:pt x="592836" y="350520"/>
                  </a:lnTo>
                  <a:lnTo>
                    <a:pt x="594360" y="352044"/>
                  </a:lnTo>
                  <a:lnTo>
                    <a:pt x="597408" y="352044"/>
                  </a:lnTo>
                  <a:lnTo>
                    <a:pt x="597408" y="350520"/>
                  </a:lnTo>
                  <a:lnTo>
                    <a:pt x="600456" y="350520"/>
                  </a:lnTo>
                  <a:lnTo>
                    <a:pt x="620268" y="332232"/>
                  </a:lnTo>
                  <a:lnTo>
                    <a:pt x="623316" y="330708"/>
                  </a:lnTo>
                  <a:lnTo>
                    <a:pt x="624840" y="329184"/>
                  </a:lnTo>
                  <a:lnTo>
                    <a:pt x="624840" y="327660"/>
                  </a:lnTo>
                  <a:lnTo>
                    <a:pt x="629412" y="323088"/>
                  </a:lnTo>
                  <a:close/>
                </a:path>
                <a:path w="1249679" h="487679">
                  <a:moveTo>
                    <a:pt x="632460" y="316992"/>
                  </a:moveTo>
                  <a:lnTo>
                    <a:pt x="632460" y="303276"/>
                  </a:lnTo>
                  <a:lnTo>
                    <a:pt x="629412" y="303276"/>
                  </a:lnTo>
                  <a:lnTo>
                    <a:pt x="629412" y="321564"/>
                  </a:lnTo>
                  <a:lnTo>
                    <a:pt x="630936" y="320040"/>
                  </a:lnTo>
                  <a:lnTo>
                    <a:pt x="630936" y="318516"/>
                  </a:lnTo>
                  <a:lnTo>
                    <a:pt x="632460" y="316992"/>
                  </a:lnTo>
                  <a:close/>
                </a:path>
                <a:path w="1249679" h="487679">
                  <a:moveTo>
                    <a:pt x="633984" y="312420"/>
                  </a:moveTo>
                  <a:lnTo>
                    <a:pt x="633984" y="304800"/>
                  </a:lnTo>
                  <a:lnTo>
                    <a:pt x="632460" y="304800"/>
                  </a:lnTo>
                  <a:lnTo>
                    <a:pt x="632460" y="315468"/>
                  </a:lnTo>
                  <a:lnTo>
                    <a:pt x="633984" y="312420"/>
                  </a:lnTo>
                  <a:close/>
                </a:path>
                <a:path w="1249679" h="487679">
                  <a:moveTo>
                    <a:pt x="772668" y="220980"/>
                  </a:moveTo>
                  <a:lnTo>
                    <a:pt x="772668" y="219456"/>
                  </a:lnTo>
                  <a:lnTo>
                    <a:pt x="771144" y="219456"/>
                  </a:lnTo>
                  <a:lnTo>
                    <a:pt x="771144" y="217932"/>
                  </a:lnTo>
                  <a:lnTo>
                    <a:pt x="769620" y="217932"/>
                  </a:lnTo>
                  <a:lnTo>
                    <a:pt x="768096" y="216408"/>
                  </a:lnTo>
                  <a:lnTo>
                    <a:pt x="765048" y="216408"/>
                  </a:lnTo>
                  <a:lnTo>
                    <a:pt x="763524" y="214884"/>
                  </a:lnTo>
                  <a:lnTo>
                    <a:pt x="757428" y="214884"/>
                  </a:lnTo>
                  <a:lnTo>
                    <a:pt x="757428" y="213360"/>
                  </a:lnTo>
                  <a:lnTo>
                    <a:pt x="755904" y="214884"/>
                  </a:lnTo>
                  <a:lnTo>
                    <a:pt x="752856" y="214884"/>
                  </a:lnTo>
                  <a:lnTo>
                    <a:pt x="752856" y="216408"/>
                  </a:lnTo>
                  <a:lnTo>
                    <a:pt x="714756" y="348996"/>
                  </a:lnTo>
                  <a:lnTo>
                    <a:pt x="714756" y="350520"/>
                  </a:lnTo>
                  <a:lnTo>
                    <a:pt x="717804" y="353568"/>
                  </a:lnTo>
                  <a:lnTo>
                    <a:pt x="719328" y="353568"/>
                  </a:lnTo>
                  <a:lnTo>
                    <a:pt x="720852" y="355092"/>
                  </a:lnTo>
                  <a:lnTo>
                    <a:pt x="723900" y="355092"/>
                  </a:lnTo>
                  <a:lnTo>
                    <a:pt x="725424" y="356616"/>
                  </a:lnTo>
                  <a:lnTo>
                    <a:pt x="733044" y="356616"/>
                  </a:lnTo>
                  <a:lnTo>
                    <a:pt x="733044" y="355092"/>
                  </a:lnTo>
                  <a:lnTo>
                    <a:pt x="734568" y="355092"/>
                  </a:lnTo>
                  <a:lnTo>
                    <a:pt x="771144" y="220980"/>
                  </a:lnTo>
                  <a:lnTo>
                    <a:pt x="772668" y="220980"/>
                  </a:lnTo>
                  <a:close/>
                </a:path>
                <a:path w="1249679" h="487679">
                  <a:moveTo>
                    <a:pt x="827532" y="237744"/>
                  </a:moveTo>
                  <a:lnTo>
                    <a:pt x="827532" y="234696"/>
                  </a:lnTo>
                  <a:lnTo>
                    <a:pt x="826008" y="234696"/>
                  </a:lnTo>
                  <a:lnTo>
                    <a:pt x="826008" y="233172"/>
                  </a:lnTo>
                  <a:lnTo>
                    <a:pt x="822960" y="233172"/>
                  </a:lnTo>
                  <a:lnTo>
                    <a:pt x="822960" y="231648"/>
                  </a:lnTo>
                  <a:lnTo>
                    <a:pt x="819912" y="231648"/>
                  </a:lnTo>
                  <a:lnTo>
                    <a:pt x="816864" y="230124"/>
                  </a:lnTo>
                  <a:lnTo>
                    <a:pt x="809244" y="230124"/>
                  </a:lnTo>
                  <a:lnTo>
                    <a:pt x="809244" y="231648"/>
                  </a:lnTo>
                  <a:lnTo>
                    <a:pt x="771144" y="365760"/>
                  </a:lnTo>
                  <a:lnTo>
                    <a:pt x="771144" y="367284"/>
                  </a:lnTo>
                  <a:lnTo>
                    <a:pt x="772668" y="368808"/>
                  </a:lnTo>
                  <a:lnTo>
                    <a:pt x="774192" y="368808"/>
                  </a:lnTo>
                  <a:lnTo>
                    <a:pt x="775716" y="370332"/>
                  </a:lnTo>
                  <a:lnTo>
                    <a:pt x="777240" y="370332"/>
                  </a:lnTo>
                  <a:lnTo>
                    <a:pt x="778764" y="371856"/>
                  </a:lnTo>
                  <a:lnTo>
                    <a:pt x="789432" y="371856"/>
                  </a:lnTo>
                  <a:lnTo>
                    <a:pt x="789432" y="370332"/>
                  </a:lnTo>
                  <a:lnTo>
                    <a:pt x="827532" y="237744"/>
                  </a:lnTo>
                  <a:close/>
                </a:path>
                <a:path w="1249679" h="487679">
                  <a:moveTo>
                    <a:pt x="821436" y="373380"/>
                  </a:moveTo>
                  <a:lnTo>
                    <a:pt x="821436" y="361188"/>
                  </a:lnTo>
                  <a:lnTo>
                    <a:pt x="819912" y="361188"/>
                  </a:lnTo>
                  <a:lnTo>
                    <a:pt x="819912" y="373380"/>
                  </a:lnTo>
                  <a:lnTo>
                    <a:pt x="821436" y="373380"/>
                  </a:lnTo>
                  <a:close/>
                </a:path>
                <a:path w="1249679" h="487679">
                  <a:moveTo>
                    <a:pt x="893064" y="391160"/>
                  </a:moveTo>
                  <a:lnTo>
                    <a:pt x="893064" y="358140"/>
                  </a:lnTo>
                  <a:lnTo>
                    <a:pt x="891540" y="362712"/>
                  </a:lnTo>
                  <a:lnTo>
                    <a:pt x="891540" y="365760"/>
                  </a:lnTo>
                  <a:lnTo>
                    <a:pt x="890016" y="368808"/>
                  </a:lnTo>
                  <a:lnTo>
                    <a:pt x="886968" y="371856"/>
                  </a:lnTo>
                  <a:lnTo>
                    <a:pt x="885444" y="374904"/>
                  </a:lnTo>
                  <a:lnTo>
                    <a:pt x="876300" y="379476"/>
                  </a:lnTo>
                  <a:lnTo>
                    <a:pt x="862584" y="379476"/>
                  </a:lnTo>
                  <a:lnTo>
                    <a:pt x="848868" y="374904"/>
                  </a:lnTo>
                  <a:lnTo>
                    <a:pt x="844296" y="371856"/>
                  </a:lnTo>
                  <a:lnTo>
                    <a:pt x="841248" y="370332"/>
                  </a:lnTo>
                  <a:lnTo>
                    <a:pt x="838200" y="367284"/>
                  </a:lnTo>
                  <a:lnTo>
                    <a:pt x="835152" y="365760"/>
                  </a:lnTo>
                  <a:lnTo>
                    <a:pt x="833628" y="362712"/>
                  </a:lnTo>
                  <a:lnTo>
                    <a:pt x="830580" y="361188"/>
                  </a:lnTo>
                  <a:lnTo>
                    <a:pt x="827532" y="358140"/>
                  </a:lnTo>
                  <a:lnTo>
                    <a:pt x="827532" y="356616"/>
                  </a:lnTo>
                  <a:lnTo>
                    <a:pt x="822960" y="356616"/>
                  </a:lnTo>
                  <a:lnTo>
                    <a:pt x="822960" y="358140"/>
                  </a:lnTo>
                  <a:lnTo>
                    <a:pt x="821436" y="358140"/>
                  </a:lnTo>
                  <a:lnTo>
                    <a:pt x="821436" y="374904"/>
                  </a:lnTo>
                  <a:lnTo>
                    <a:pt x="827532" y="381000"/>
                  </a:lnTo>
                  <a:lnTo>
                    <a:pt x="830580" y="382524"/>
                  </a:lnTo>
                  <a:lnTo>
                    <a:pt x="833628" y="385572"/>
                  </a:lnTo>
                  <a:lnTo>
                    <a:pt x="839724" y="388620"/>
                  </a:lnTo>
                  <a:lnTo>
                    <a:pt x="853440" y="393192"/>
                  </a:lnTo>
                  <a:lnTo>
                    <a:pt x="859536" y="396240"/>
                  </a:lnTo>
                  <a:lnTo>
                    <a:pt x="879348" y="396240"/>
                  </a:lnTo>
                  <a:lnTo>
                    <a:pt x="883920" y="394716"/>
                  </a:lnTo>
                  <a:lnTo>
                    <a:pt x="890016" y="393192"/>
                  </a:lnTo>
                  <a:lnTo>
                    <a:pt x="893064" y="391160"/>
                  </a:lnTo>
                  <a:close/>
                </a:path>
                <a:path w="1249679" h="487679">
                  <a:moveTo>
                    <a:pt x="928116" y="280416"/>
                  </a:moveTo>
                  <a:lnTo>
                    <a:pt x="928116" y="268224"/>
                  </a:lnTo>
                  <a:lnTo>
                    <a:pt x="926592" y="268224"/>
                  </a:lnTo>
                  <a:lnTo>
                    <a:pt x="925068" y="265176"/>
                  </a:lnTo>
                  <a:lnTo>
                    <a:pt x="923544" y="263652"/>
                  </a:lnTo>
                  <a:lnTo>
                    <a:pt x="917448" y="260604"/>
                  </a:lnTo>
                  <a:lnTo>
                    <a:pt x="915924" y="259080"/>
                  </a:lnTo>
                  <a:lnTo>
                    <a:pt x="903732" y="252984"/>
                  </a:lnTo>
                  <a:lnTo>
                    <a:pt x="900684" y="252984"/>
                  </a:lnTo>
                  <a:lnTo>
                    <a:pt x="888492" y="249936"/>
                  </a:lnTo>
                  <a:lnTo>
                    <a:pt x="877824" y="249936"/>
                  </a:lnTo>
                  <a:lnTo>
                    <a:pt x="868680" y="252984"/>
                  </a:lnTo>
                  <a:lnTo>
                    <a:pt x="859536" y="259080"/>
                  </a:lnTo>
                  <a:lnTo>
                    <a:pt x="851916" y="266700"/>
                  </a:lnTo>
                  <a:lnTo>
                    <a:pt x="850392" y="271272"/>
                  </a:lnTo>
                  <a:lnTo>
                    <a:pt x="847344" y="283464"/>
                  </a:lnTo>
                  <a:lnTo>
                    <a:pt x="845820" y="288036"/>
                  </a:lnTo>
                  <a:lnTo>
                    <a:pt x="847344" y="292608"/>
                  </a:lnTo>
                  <a:lnTo>
                    <a:pt x="847344" y="297180"/>
                  </a:lnTo>
                  <a:lnTo>
                    <a:pt x="848868" y="301752"/>
                  </a:lnTo>
                  <a:lnTo>
                    <a:pt x="850392" y="304800"/>
                  </a:lnTo>
                  <a:lnTo>
                    <a:pt x="853440" y="309372"/>
                  </a:lnTo>
                  <a:lnTo>
                    <a:pt x="867156" y="323088"/>
                  </a:lnTo>
                  <a:lnTo>
                    <a:pt x="867156" y="280416"/>
                  </a:lnTo>
                  <a:lnTo>
                    <a:pt x="868680" y="277368"/>
                  </a:lnTo>
                  <a:lnTo>
                    <a:pt x="871728" y="274320"/>
                  </a:lnTo>
                  <a:lnTo>
                    <a:pt x="873252" y="271272"/>
                  </a:lnTo>
                  <a:lnTo>
                    <a:pt x="874776" y="269748"/>
                  </a:lnTo>
                  <a:lnTo>
                    <a:pt x="877824" y="268224"/>
                  </a:lnTo>
                  <a:lnTo>
                    <a:pt x="879348" y="268224"/>
                  </a:lnTo>
                  <a:lnTo>
                    <a:pt x="882396" y="266700"/>
                  </a:lnTo>
                  <a:lnTo>
                    <a:pt x="891540" y="266700"/>
                  </a:lnTo>
                  <a:lnTo>
                    <a:pt x="900684" y="269748"/>
                  </a:lnTo>
                  <a:lnTo>
                    <a:pt x="912876" y="275844"/>
                  </a:lnTo>
                  <a:lnTo>
                    <a:pt x="914400" y="278892"/>
                  </a:lnTo>
                  <a:lnTo>
                    <a:pt x="922020" y="286512"/>
                  </a:lnTo>
                  <a:lnTo>
                    <a:pt x="925068" y="286512"/>
                  </a:lnTo>
                  <a:lnTo>
                    <a:pt x="925068" y="284988"/>
                  </a:lnTo>
                  <a:lnTo>
                    <a:pt x="926592" y="283464"/>
                  </a:lnTo>
                  <a:lnTo>
                    <a:pt x="926592" y="281940"/>
                  </a:lnTo>
                  <a:lnTo>
                    <a:pt x="928116" y="280416"/>
                  </a:lnTo>
                  <a:close/>
                </a:path>
                <a:path w="1249679" h="487679">
                  <a:moveTo>
                    <a:pt x="914400" y="355092"/>
                  </a:moveTo>
                  <a:lnTo>
                    <a:pt x="912876" y="350520"/>
                  </a:lnTo>
                  <a:lnTo>
                    <a:pt x="912876" y="345948"/>
                  </a:lnTo>
                  <a:lnTo>
                    <a:pt x="911352" y="341376"/>
                  </a:lnTo>
                  <a:lnTo>
                    <a:pt x="908304" y="338328"/>
                  </a:lnTo>
                  <a:lnTo>
                    <a:pt x="906780" y="333756"/>
                  </a:lnTo>
                  <a:lnTo>
                    <a:pt x="891540" y="318516"/>
                  </a:lnTo>
                  <a:lnTo>
                    <a:pt x="886968" y="315468"/>
                  </a:lnTo>
                  <a:lnTo>
                    <a:pt x="874776" y="303276"/>
                  </a:lnTo>
                  <a:lnTo>
                    <a:pt x="873252" y="300228"/>
                  </a:lnTo>
                  <a:lnTo>
                    <a:pt x="870204" y="297180"/>
                  </a:lnTo>
                  <a:lnTo>
                    <a:pt x="867156" y="291084"/>
                  </a:lnTo>
                  <a:lnTo>
                    <a:pt x="867156" y="323088"/>
                  </a:lnTo>
                  <a:lnTo>
                    <a:pt x="874776" y="330708"/>
                  </a:lnTo>
                  <a:lnTo>
                    <a:pt x="879348" y="333756"/>
                  </a:lnTo>
                  <a:lnTo>
                    <a:pt x="885444" y="339852"/>
                  </a:lnTo>
                  <a:lnTo>
                    <a:pt x="886968" y="342900"/>
                  </a:lnTo>
                  <a:lnTo>
                    <a:pt x="890016" y="345948"/>
                  </a:lnTo>
                  <a:lnTo>
                    <a:pt x="891540" y="348996"/>
                  </a:lnTo>
                  <a:lnTo>
                    <a:pt x="891540" y="352044"/>
                  </a:lnTo>
                  <a:lnTo>
                    <a:pt x="893064" y="355092"/>
                  </a:lnTo>
                  <a:lnTo>
                    <a:pt x="893064" y="391160"/>
                  </a:lnTo>
                  <a:lnTo>
                    <a:pt x="911352" y="365760"/>
                  </a:lnTo>
                  <a:lnTo>
                    <a:pt x="912876" y="361188"/>
                  </a:lnTo>
                  <a:lnTo>
                    <a:pt x="914400" y="355092"/>
                  </a:lnTo>
                  <a:close/>
                </a:path>
                <a:path w="1249679" h="487679">
                  <a:moveTo>
                    <a:pt x="929640" y="274320"/>
                  </a:moveTo>
                  <a:lnTo>
                    <a:pt x="929640" y="271272"/>
                  </a:lnTo>
                  <a:lnTo>
                    <a:pt x="928116" y="271272"/>
                  </a:lnTo>
                  <a:lnTo>
                    <a:pt x="928116" y="275844"/>
                  </a:lnTo>
                  <a:lnTo>
                    <a:pt x="929640" y="274320"/>
                  </a:lnTo>
                  <a:close/>
                </a:path>
                <a:path w="1249679" h="487679">
                  <a:moveTo>
                    <a:pt x="1059180" y="398562"/>
                  </a:moveTo>
                  <a:lnTo>
                    <a:pt x="1059180" y="382524"/>
                  </a:lnTo>
                  <a:lnTo>
                    <a:pt x="979932" y="397764"/>
                  </a:lnTo>
                  <a:lnTo>
                    <a:pt x="976884" y="397764"/>
                  </a:lnTo>
                  <a:lnTo>
                    <a:pt x="976884" y="399288"/>
                  </a:lnTo>
                  <a:lnTo>
                    <a:pt x="975360" y="399288"/>
                  </a:lnTo>
                  <a:lnTo>
                    <a:pt x="975360" y="400812"/>
                  </a:lnTo>
                  <a:lnTo>
                    <a:pt x="973836" y="402336"/>
                  </a:lnTo>
                  <a:lnTo>
                    <a:pt x="973836" y="405384"/>
                  </a:lnTo>
                  <a:lnTo>
                    <a:pt x="972312" y="406908"/>
                  </a:lnTo>
                  <a:lnTo>
                    <a:pt x="972312" y="414528"/>
                  </a:lnTo>
                  <a:lnTo>
                    <a:pt x="975360" y="414528"/>
                  </a:lnTo>
                  <a:lnTo>
                    <a:pt x="1059180" y="398562"/>
                  </a:lnTo>
                  <a:close/>
                </a:path>
                <a:path w="1249679" h="487679">
                  <a:moveTo>
                    <a:pt x="1077468" y="388620"/>
                  </a:moveTo>
                  <a:lnTo>
                    <a:pt x="1077468" y="379476"/>
                  </a:lnTo>
                  <a:lnTo>
                    <a:pt x="1004316" y="312420"/>
                  </a:lnTo>
                  <a:lnTo>
                    <a:pt x="1002792" y="310896"/>
                  </a:lnTo>
                  <a:lnTo>
                    <a:pt x="1001268" y="310896"/>
                  </a:lnTo>
                  <a:lnTo>
                    <a:pt x="1001268" y="312420"/>
                  </a:lnTo>
                  <a:lnTo>
                    <a:pt x="999744" y="312420"/>
                  </a:lnTo>
                  <a:lnTo>
                    <a:pt x="999744" y="313944"/>
                  </a:lnTo>
                  <a:lnTo>
                    <a:pt x="998220" y="315468"/>
                  </a:lnTo>
                  <a:lnTo>
                    <a:pt x="998220" y="320040"/>
                  </a:lnTo>
                  <a:lnTo>
                    <a:pt x="996696" y="321564"/>
                  </a:lnTo>
                  <a:lnTo>
                    <a:pt x="996696" y="327660"/>
                  </a:lnTo>
                  <a:lnTo>
                    <a:pt x="999744" y="330708"/>
                  </a:lnTo>
                  <a:lnTo>
                    <a:pt x="1059180" y="382524"/>
                  </a:lnTo>
                  <a:lnTo>
                    <a:pt x="1059180" y="398562"/>
                  </a:lnTo>
                  <a:lnTo>
                    <a:pt x="1071372" y="396240"/>
                  </a:lnTo>
                  <a:lnTo>
                    <a:pt x="1072896" y="396240"/>
                  </a:lnTo>
                  <a:lnTo>
                    <a:pt x="1072896" y="394716"/>
                  </a:lnTo>
                  <a:lnTo>
                    <a:pt x="1074420" y="394716"/>
                  </a:lnTo>
                  <a:lnTo>
                    <a:pt x="1074420" y="393192"/>
                  </a:lnTo>
                  <a:lnTo>
                    <a:pt x="1075944" y="393192"/>
                  </a:lnTo>
                  <a:lnTo>
                    <a:pt x="1075944" y="390144"/>
                  </a:lnTo>
                  <a:lnTo>
                    <a:pt x="1077468" y="388620"/>
                  </a:lnTo>
                  <a:close/>
                </a:path>
                <a:path w="1249679" h="487679">
                  <a:moveTo>
                    <a:pt x="1249680" y="385572"/>
                  </a:moveTo>
                  <a:lnTo>
                    <a:pt x="1249680" y="377952"/>
                  </a:lnTo>
                  <a:lnTo>
                    <a:pt x="1246632" y="370332"/>
                  </a:lnTo>
                  <a:lnTo>
                    <a:pt x="1245108" y="364236"/>
                  </a:lnTo>
                  <a:lnTo>
                    <a:pt x="1242060" y="358140"/>
                  </a:lnTo>
                  <a:lnTo>
                    <a:pt x="1235964" y="353568"/>
                  </a:lnTo>
                  <a:lnTo>
                    <a:pt x="1231392" y="347472"/>
                  </a:lnTo>
                  <a:lnTo>
                    <a:pt x="1216152" y="341376"/>
                  </a:lnTo>
                  <a:lnTo>
                    <a:pt x="1209317" y="340280"/>
                  </a:lnTo>
                  <a:lnTo>
                    <a:pt x="1202626" y="339471"/>
                  </a:lnTo>
                  <a:lnTo>
                    <a:pt x="1196220" y="339232"/>
                  </a:lnTo>
                  <a:lnTo>
                    <a:pt x="1190244" y="339852"/>
                  </a:lnTo>
                  <a:lnTo>
                    <a:pt x="1184148" y="342900"/>
                  </a:lnTo>
                  <a:lnTo>
                    <a:pt x="1176528" y="345948"/>
                  </a:lnTo>
                  <a:lnTo>
                    <a:pt x="1153548" y="377856"/>
                  </a:lnTo>
                  <a:lnTo>
                    <a:pt x="1141857" y="416433"/>
                  </a:lnTo>
                  <a:lnTo>
                    <a:pt x="1139952" y="431292"/>
                  </a:lnTo>
                  <a:lnTo>
                    <a:pt x="1138428" y="440436"/>
                  </a:lnTo>
                  <a:lnTo>
                    <a:pt x="1138428" y="448056"/>
                  </a:lnTo>
                  <a:lnTo>
                    <a:pt x="1141476" y="455676"/>
                  </a:lnTo>
                  <a:lnTo>
                    <a:pt x="1143000" y="461772"/>
                  </a:lnTo>
                  <a:lnTo>
                    <a:pt x="1146048" y="467868"/>
                  </a:lnTo>
                  <a:lnTo>
                    <a:pt x="1152144" y="472440"/>
                  </a:lnTo>
                  <a:lnTo>
                    <a:pt x="1156716" y="478536"/>
                  </a:lnTo>
                  <a:lnTo>
                    <a:pt x="1158240" y="479298"/>
                  </a:lnTo>
                  <a:lnTo>
                    <a:pt x="1158240" y="438912"/>
                  </a:lnTo>
                  <a:lnTo>
                    <a:pt x="1159764" y="431292"/>
                  </a:lnTo>
                  <a:lnTo>
                    <a:pt x="1160287" y="425291"/>
                  </a:lnTo>
                  <a:lnTo>
                    <a:pt x="1161669" y="418719"/>
                  </a:lnTo>
                  <a:lnTo>
                    <a:pt x="1163621" y="411575"/>
                  </a:lnTo>
                  <a:lnTo>
                    <a:pt x="1165860" y="403860"/>
                  </a:lnTo>
                  <a:lnTo>
                    <a:pt x="1167384" y="396240"/>
                  </a:lnTo>
                  <a:lnTo>
                    <a:pt x="1170432" y="388620"/>
                  </a:lnTo>
                  <a:lnTo>
                    <a:pt x="1171956" y="382524"/>
                  </a:lnTo>
                  <a:lnTo>
                    <a:pt x="1178052" y="370332"/>
                  </a:lnTo>
                  <a:lnTo>
                    <a:pt x="1182624" y="365760"/>
                  </a:lnTo>
                  <a:lnTo>
                    <a:pt x="1185672" y="361188"/>
                  </a:lnTo>
                  <a:lnTo>
                    <a:pt x="1190244" y="358140"/>
                  </a:lnTo>
                  <a:lnTo>
                    <a:pt x="1199388" y="355092"/>
                  </a:lnTo>
                  <a:lnTo>
                    <a:pt x="1203960" y="355092"/>
                  </a:lnTo>
                  <a:lnTo>
                    <a:pt x="1210056" y="356616"/>
                  </a:lnTo>
                  <a:lnTo>
                    <a:pt x="1222248" y="362712"/>
                  </a:lnTo>
                  <a:lnTo>
                    <a:pt x="1223772" y="364236"/>
                  </a:lnTo>
                  <a:lnTo>
                    <a:pt x="1228344" y="373380"/>
                  </a:lnTo>
                  <a:lnTo>
                    <a:pt x="1228344" y="376428"/>
                  </a:lnTo>
                  <a:lnTo>
                    <a:pt x="1229868" y="379476"/>
                  </a:lnTo>
                  <a:lnTo>
                    <a:pt x="1229868" y="456947"/>
                  </a:lnTo>
                  <a:lnTo>
                    <a:pt x="1231392" y="454152"/>
                  </a:lnTo>
                  <a:lnTo>
                    <a:pt x="1244298" y="417861"/>
                  </a:lnTo>
                  <a:lnTo>
                    <a:pt x="1248156" y="394716"/>
                  </a:lnTo>
                  <a:lnTo>
                    <a:pt x="1249680" y="385572"/>
                  </a:lnTo>
                  <a:close/>
                </a:path>
                <a:path w="1249679" h="487679">
                  <a:moveTo>
                    <a:pt x="1229868" y="456947"/>
                  </a:moveTo>
                  <a:lnTo>
                    <a:pt x="1229868" y="393192"/>
                  </a:lnTo>
                  <a:lnTo>
                    <a:pt x="1228344" y="397764"/>
                  </a:lnTo>
                  <a:lnTo>
                    <a:pt x="1226820" y="403860"/>
                  </a:lnTo>
                  <a:lnTo>
                    <a:pt x="1226820" y="408432"/>
                  </a:lnTo>
                  <a:lnTo>
                    <a:pt x="1225296" y="416052"/>
                  </a:lnTo>
                  <a:lnTo>
                    <a:pt x="1222248" y="422148"/>
                  </a:lnTo>
                  <a:lnTo>
                    <a:pt x="1220724" y="426720"/>
                  </a:lnTo>
                  <a:lnTo>
                    <a:pt x="1219200" y="432816"/>
                  </a:lnTo>
                  <a:lnTo>
                    <a:pt x="1214628" y="446532"/>
                  </a:lnTo>
                  <a:lnTo>
                    <a:pt x="1213104" y="449580"/>
                  </a:lnTo>
                  <a:lnTo>
                    <a:pt x="1210056" y="454152"/>
                  </a:lnTo>
                  <a:lnTo>
                    <a:pt x="1208532" y="457200"/>
                  </a:lnTo>
                  <a:lnTo>
                    <a:pt x="1205484" y="460248"/>
                  </a:lnTo>
                  <a:lnTo>
                    <a:pt x="1203960" y="463296"/>
                  </a:lnTo>
                  <a:lnTo>
                    <a:pt x="1197864" y="466344"/>
                  </a:lnTo>
                  <a:lnTo>
                    <a:pt x="1194816" y="469392"/>
                  </a:lnTo>
                  <a:lnTo>
                    <a:pt x="1191768" y="469392"/>
                  </a:lnTo>
                  <a:lnTo>
                    <a:pt x="1188720" y="470916"/>
                  </a:lnTo>
                  <a:lnTo>
                    <a:pt x="1181100" y="470916"/>
                  </a:lnTo>
                  <a:lnTo>
                    <a:pt x="1178052" y="469392"/>
                  </a:lnTo>
                  <a:lnTo>
                    <a:pt x="1171956" y="467868"/>
                  </a:lnTo>
                  <a:lnTo>
                    <a:pt x="1159764" y="455676"/>
                  </a:lnTo>
                  <a:lnTo>
                    <a:pt x="1159764" y="449580"/>
                  </a:lnTo>
                  <a:lnTo>
                    <a:pt x="1158240" y="445008"/>
                  </a:lnTo>
                  <a:lnTo>
                    <a:pt x="1158240" y="479298"/>
                  </a:lnTo>
                  <a:lnTo>
                    <a:pt x="1162812" y="481584"/>
                  </a:lnTo>
                  <a:lnTo>
                    <a:pt x="1171956" y="484632"/>
                  </a:lnTo>
                  <a:lnTo>
                    <a:pt x="1190244" y="487680"/>
                  </a:lnTo>
                  <a:lnTo>
                    <a:pt x="1196340" y="486156"/>
                  </a:lnTo>
                  <a:lnTo>
                    <a:pt x="1227939" y="460486"/>
                  </a:lnTo>
                  <a:lnTo>
                    <a:pt x="1229868" y="456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6838" y="4379467"/>
              <a:ext cx="4681728" cy="2337816"/>
            </a:xfrm>
            <a:prstGeom prst="rect">
              <a:avLst/>
            </a:prstGeom>
          </p:spPr>
        </p:pic>
      </p:grpSp>
      <p:pic>
        <p:nvPicPr>
          <p:cNvPr id="162" name="object 16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37187" y="1607311"/>
            <a:ext cx="1290827" cy="1330865"/>
          </a:xfrm>
          <a:prstGeom prst="rect">
            <a:avLst/>
          </a:prstGeom>
        </p:spPr>
      </p:pic>
      <p:sp>
        <p:nvSpPr>
          <p:cNvPr id="163" name="object 163"/>
          <p:cNvSpPr txBox="1"/>
          <p:nvPr/>
        </p:nvSpPr>
        <p:spPr>
          <a:xfrm>
            <a:off x="6226827" y="1940559"/>
            <a:ext cx="514984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60" dirty="0">
                <a:solidFill>
                  <a:srgbClr val="FFFFFF"/>
                </a:solidFill>
                <a:latin typeface="Calibri"/>
                <a:cs typeface="Calibri"/>
              </a:rPr>
              <a:t>VA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164" name="object 16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15138" y="3236467"/>
            <a:ext cx="612648" cy="608076"/>
          </a:xfrm>
          <a:prstGeom prst="rect">
            <a:avLst/>
          </a:prstGeom>
        </p:spPr>
      </p:pic>
      <p:sp>
        <p:nvSpPr>
          <p:cNvPr id="165" name="object 165"/>
          <p:cNvSpPr txBox="1"/>
          <p:nvPr/>
        </p:nvSpPr>
        <p:spPr>
          <a:xfrm>
            <a:off x="6338079" y="3301490"/>
            <a:ext cx="3733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VA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66" name="object 16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94220" y="4017617"/>
            <a:ext cx="260205" cy="84813"/>
          </a:xfrm>
          <a:prstGeom prst="rect">
            <a:avLst/>
          </a:prstGeom>
        </p:spPr>
      </p:pic>
      <p:pic>
        <p:nvPicPr>
          <p:cNvPr id="167" name="object 16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215138" y="4271264"/>
            <a:ext cx="612648" cy="608076"/>
          </a:xfrm>
          <a:prstGeom prst="rect">
            <a:avLst/>
          </a:prstGeom>
        </p:spPr>
      </p:pic>
      <p:sp>
        <p:nvSpPr>
          <p:cNvPr id="168" name="object 168"/>
          <p:cNvSpPr txBox="1"/>
          <p:nvPr/>
        </p:nvSpPr>
        <p:spPr>
          <a:xfrm>
            <a:off x="6338079" y="4336286"/>
            <a:ext cx="3733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VA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69" name="object 16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394220" y="4961237"/>
            <a:ext cx="260205" cy="262925"/>
          </a:xfrm>
          <a:prstGeom prst="rect">
            <a:avLst/>
          </a:prstGeom>
        </p:spPr>
      </p:pic>
      <p:pic>
        <p:nvPicPr>
          <p:cNvPr id="170" name="object 17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215138" y="5301488"/>
            <a:ext cx="612648" cy="612648"/>
          </a:xfrm>
          <a:prstGeom prst="rect">
            <a:avLst/>
          </a:prstGeom>
        </p:spPr>
      </p:pic>
      <p:sp>
        <p:nvSpPr>
          <p:cNvPr id="171" name="object 171"/>
          <p:cNvSpPr txBox="1"/>
          <p:nvPr/>
        </p:nvSpPr>
        <p:spPr>
          <a:xfrm>
            <a:off x="6348747" y="5371081"/>
            <a:ext cx="3517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VF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72" name="object 17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910798" y="4462886"/>
            <a:ext cx="187545" cy="225231"/>
          </a:xfrm>
          <a:prstGeom prst="rect">
            <a:avLst/>
          </a:prstGeom>
        </p:spPr>
      </p:pic>
      <p:pic>
        <p:nvPicPr>
          <p:cNvPr id="173" name="object 17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167639" y="3972559"/>
            <a:ext cx="1202436" cy="1207008"/>
          </a:xfrm>
          <a:prstGeom prst="rect">
            <a:avLst/>
          </a:prstGeom>
        </p:spPr>
      </p:pic>
      <p:sp>
        <p:nvSpPr>
          <p:cNvPr id="174" name="object 174"/>
          <p:cNvSpPr txBox="1"/>
          <p:nvPr/>
        </p:nvSpPr>
        <p:spPr>
          <a:xfrm>
            <a:off x="7430787" y="4107686"/>
            <a:ext cx="67945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VF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2095265" y="4744039"/>
            <a:ext cx="1663064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marR="5080" indent="-132715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 Min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(VA;VF)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24" name="Titolo 1">
            <a:extLst>
              <a:ext uri="{FF2B5EF4-FFF2-40B4-BE49-F238E27FC236}">
                <a16:creationId xmlns:a16="http://schemas.microsoft.com/office/drawing/2014/main" id="{C41BE732-D780-8A3D-76D4-6CFA09ADB50D}"/>
              </a:ext>
            </a:extLst>
          </p:cNvPr>
          <p:cNvSpPr txBox="1">
            <a:spLocks/>
          </p:cNvSpPr>
          <p:nvPr/>
        </p:nvSpPr>
        <p:spPr bwMode="auto">
          <a:xfrm>
            <a:off x="9177" y="34035"/>
            <a:ext cx="8875982" cy="1363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Il valore rilevante per il socio in caso di società di capitali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C97D47FB-7582-F646-82F9-3DCB4F4E87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7</a:t>
            </a:fld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786135" y="852423"/>
            <a:ext cx="2101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fiscalità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socio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4424D2E2-96AF-F44B-6678-F793B88C8D2C}"/>
              </a:ext>
            </a:extLst>
          </p:cNvPr>
          <p:cNvGrpSpPr/>
          <p:nvPr/>
        </p:nvGrpSpPr>
        <p:grpSpPr>
          <a:xfrm>
            <a:off x="258841" y="1352295"/>
            <a:ext cx="8688829" cy="4804157"/>
            <a:chOff x="258841" y="1352295"/>
            <a:chExt cx="8688829" cy="4804157"/>
          </a:xfrm>
        </p:grpSpPr>
        <p:pic>
          <p:nvPicPr>
            <p:cNvPr id="147" name="object 1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196" y="3727196"/>
              <a:ext cx="554736" cy="554736"/>
            </a:xfrm>
            <a:prstGeom prst="rect">
              <a:avLst/>
            </a:prstGeom>
          </p:spPr>
        </p:pic>
        <p:sp>
          <p:nvSpPr>
            <p:cNvPr id="148" name="object 148"/>
            <p:cNvSpPr txBox="1"/>
            <p:nvPr/>
          </p:nvSpPr>
          <p:spPr>
            <a:xfrm>
              <a:off x="738906" y="3863846"/>
              <a:ext cx="217804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spc="-25" dirty="0">
                  <a:solidFill>
                    <a:srgbClr val="FFFFFF"/>
                  </a:solidFill>
                  <a:latin typeface="Calibri"/>
                  <a:cs typeface="Calibri"/>
                </a:rPr>
                <a:t>VP</a:t>
              </a:r>
              <a:endParaRPr sz="1400">
                <a:latin typeface="Calibri"/>
                <a:cs typeface="Calibri"/>
              </a:endParaRPr>
            </a:p>
          </p:txBody>
        </p:sp>
        <p:pic>
          <p:nvPicPr>
            <p:cNvPr id="149" name="object 1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489" y="4433639"/>
              <a:ext cx="234334" cy="76061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196" y="4662932"/>
              <a:ext cx="554736" cy="553212"/>
            </a:xfrm>
            <a:prstGeom prst="rect">
              <a:avLst/>
            </a:prstGeom>
          </p:spPr>
        </p:pic>
        <p:sp>
          <p:nvSpPr>
            <p:cNvPr id="151" name="object 151"/>
            <p:cNvSpPr txBox="1"/>
            <p:nvPr/>
          </p:nvSpPr>
          <p:spPr>
            <a:xfrm>
              <a:off x="743477" y="4799581"/>
              <a:ext cx="207010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spc="-25" dirty="0">
                  <a:solidFill>
                    <a:srgbClr val="FFFFFF"/>
                  </a:solidFill>
                  <a:latin typeface="Calibri"/>
                  <a:cs typeface="Calibri"/>
                </a:rPr>
                <a:t>VS</a:t>
              </a:r>
              <a:endParaRPr sz="1400">
                <a:latin typeface="Calibri"/>
                <a:cs typeface="Calibri"/>
              </a:endParaRPr>
            </a:p>
          </p:txBody>
        </p:sp>
        <p:pic>
          <p:nvPicPr>
            <p:cNvPr id="152" name="object 1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122" y="5298052"/>
              <a:ext cx="222122" cy="225939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196" y="5597144"/>
              <a:ext cx="554736" cy="559308"/>
            </a:xfrm>
            <a:prstGeom prst="rect">
              <a:avLst/>
            </a:prstGeom>
          </p:spPr>
        </p:pic>
        <p:sp>
          <p:nvSpPr>
            <p:cNvPr id="154" name="object 154"/>
            <p:cNvSpPr txBox="1"/>
            <p:nvPr/>
          </p:nvSpPr>
          <p:spPr>
            <a:xfrm>
              <a:off x="665754" y="5736841"/>
              <a:ext cx="362585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spc="-20" dirty="0">
                  <a:solidFill>
                    <a:srgbClr val="FFFFFF"/>
                  </a:solidFill>
                  <a:latin typeface="Calibri"/>
                  <a:cs typeface="Calibri"/>
                </a:rPr>
                <a:t>%Ris</a:t>
              </a:r>
              <a:endParaRPr sz="1400" dirty="0">
                <a:latin typeface="Calibri"/>
                <a:cs typeface="Calibri"/>
              </a:endParaRPr>
            </a:p>
          </p:txBody>
        </p:sp>
        <p:pic>
          <p:nvPicPr>
            <p:cNvPr id="155" name="object 1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4337" y="4840478"/>
              <a:ext cx="176377" cy="201167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8254" y="4391659"/>
              <a:ext cx="1094232" cy="1094232"/>
            </a:xfrm>
            <a:prstGeom prst="rect">
              <a:avLst/>
            </a:prstGeom>
          </p:spPr>
        </p:pic>
        <p:sp>
          <p:nvSpPr>
            <p:cNvPr id="157" name="object 157"/>
            <p:cNvSpPr txBox="1"/>
            <p:nvPr/>
          </p:nvSpPr>
          <p:spPr>
            <a:xfrm>
              <a:off x="1630445" y="4625845"/>
              <a:ext cx="691515" cy="5283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3300" spc="-25" dirty="0">
                  <a:solidFill>
                    <a:srgbClr val="FFFFFF"/>
                  </a:solidFill>
                  <a:latin typeface="Calibri"/>
                  <a:cs typeface="Calibri"/>
                </a:rPr>
                <a:t>VP2</a:t>
              </a:r>
              <a:endParaRPr sz="3300">
                <a:latin typeface="Calibri"/>
                <a:cs typeface="Calibri"/>
              </a:endParaRPr>
            </a:p>
          </p:txBody>
        </p:sp>
        <p:pic>
          <p:nvPicPr>
            <p:cNvPr id="158" name="object 15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668" y="2002027"/>
              <a:ext cx="592836" cy="591312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3106" y="2684005"/>
              <a:ext cx="238138" cy="238518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3668" y="3003295"/>
              <a:ext cx="592836" cy="595883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03465" y="2691624"/>
              <a:ext cx="188595" cy="217571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52638" y="2213863"/>
              <a:ext cx="1168908" cy="1168908"/>
            </a:xfrm>
            <a:prstGeom prst="rect">
              <a:avLst/>
            </a:prstGeom>
          </p:spPr>
        </p:pic>
        <p:sp>
          <p:nvSpPr>
            <p:cNvPr id="163" name="object 163"/>
            <p:cNvSpPr txBox="1"/>
            <p:nvPr/>
          </p:nvSpPr>
          <p:spPr>
            <a:xfrm>
              <a:off x="258841" y="1352295"/>
              <a:ext cx="7576820" cy="21209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800" spc="-30" dirty="0">
                  <a:latin typeface="Calibri"/>
                  <a:cs typeface="Calibri"/>
                </a:rPr>
                <a:t>L’impatto</a:t>
              </a:r>
              <a:r>
                <a:rPr sz="2800" spc="-60" dirty="0">
                  <a:latin typeface="Calibri"/>
                  <a:cs typeface="Calibri"/>
                </a:rPr>
                <a:t> </a:t>
              </a:r>
              <a:r>
                <a:rPr sz="2800" dirty="0">
                  <a:latin typeface="Calibri"/>
                  <a:cs typeface="Calibri"/>
                </a:rPr>
                <a:t>fiscale</a:t>
              </a:r>
              <a:r>
                <a:rPr sz="2800" spc="-70" dirty="0">
                  <a:latin typeface="Calibri"/>
                  <a:cs typeface="Calibri"/>
                </a:rPr>
                <a:t> </a:t>
              </a:r>
              <a:r>
                <a:rPr sz="2800" spc="-10" dirty="0">
                  <a:latin typeface="Calibri"/>
                  <a:cs typeface="Calibri"/>
                </a:rPr>
                <a:t>deriverà</a:t>
              </a:r>
              <a:r>
                <a:rPr sz="2800" spc="-70" dirty="0">
                  <a:latin typeface="Calibri"/>
                  <a:cs typeface="Calibri"/>
                </a:rPr>
                <a:t> </a:t>
              </a:r>
              <a:r>
                <a:rPr sz="2800" dirty="0">
                  <a:latin typeface="Calibri"/>
                  <a:cs typeface="Calibri"/>
                </a:rPr>
                <a:t>dal</a:t>
              </a:r>
              <a:r>
                <a:rPr sz="2800" spc="-55" dirty="0">
                  <a:latin typeface="Calibri"/>
                  <a:cs typeface="Calibri"/>
                </a:rPr>
                <a:t> </a:t>
              </a:r>
              <a:r>
                <a:rPr sz="2800" dirty="0">
                  <a:latin typeface="Calibri"/>
                  <a:cs typeface="Calibri"/>
                </a:rPr>
                <a:t>tipo</a:t>
              </a:r>
              <a:r>
                <a:rPr sz="2800" spc="-55" dirty="0">
                  <a:latin typeface="Calibri"/>
                  <a:cs typeface="Calibri"/>
                </a:rPr>
                <a:t> </a:t>
              </a:r>
              <a:r>
                <a:rPr sz="2800" dirty="0">
                  <a:latin typeface="Calibri"/>
                  <a:cs typeface="Calibri"/>
                </a:rPr>
                <a:t>di</a:t>
              </a:r>
              <a:r>
                <a:rPr sz="2800" spc="-60" dirty="0">
                  <a:latin typeface="Calibri"/>
                  <a:cs typeface="Calibri"/>
                </a:rPr>
                <a:t> </a:t>
              </a:r>
              <a:r>
                <a:rPr sz="2800" dirty="0">
                  <a:latin typeface="Calibri"/>
                  <a:cs typeface="Calibri"/>
                </a:rPr>
                <a:t>riserve</a:t>
              </a:r>
              <a:r>
                <a:rPr sz="2800" spc="-55" dirty="0">
                  <a:latin typeface="Calibri"/>
                  <a:cs typeface="Calibri"/>
                </a:rPr>
                <a:t> </a:t>
              </a:r>
              <a:r>
                <a:rPr sz="2800" spc="-10" dirty="0">
                  <a:latin typeface="Calibri"/>
                  <a:cs typeface="Calibri"/>
                </a:rPr>
                <a:t>utilizzate</a:t>
              </a:r>
              <a:endParaRPr sz="2800" dirty="0">
                <a:latin typeface="Calibri"/>
                <a:cs typeface="Calibri"/>
              </a:endParaRPr>
            </a:p>
            <a:p>
              <a:pPr marR="6424930" algn="ctr">
                <a:lnSpc>
                  <a:spcPts val="2770"/>
                </a:lnSpc>
                <a:spcBef>
                  <a:spcPts val="2270"/>
                </a:spcBef>
              </a:pPr>
              <a:r>
                <a:rPr sz="2400" spc="-25" dirty="0">
                  <a:solidFill>
                    <a:srgbClr val="FFFFFF"/>
                  </a:solidFill>
                  <a:latin typeface="Calibri"/>
                  <a:cs typeface="Calibri"/>
                </a:rPr>
                <a:t>VS</a:t>
              </a:r>
              <a:endParaRPr sz="2400" dirty="0">
                <a:latin typeface="Calibri"/>
                <a:cs typeface="Calibri"/>
              </a:endParaRPr>
            </a:p>
            <a:p>
              <a:pPr marL="1434465">
                <a:lnSpc>
                  <a:spcPts val="4930"/>
                </a:lnSpc>
              </a:pPr>
              <a:r>
                <a:rPr sz="4200" spc="-25" dirty="0">
                  <a:solidFill>
                    <a:srgbClr val="FFFFFF"/>
                  </a:solidFill>
                  <a:latin typeface="Calibri"/>
                  <a:cs typeface="Calibri"/>
                </a:rPr>
                <a:t>Div</a:t>
              </a:r>
              <a:endParaRPr sz="4200" dirty="0">
                <a:latin typeface="Calibri"/>
                <a:cs typeface="Calibri"/>
              </a:endParaRPr>
            </a:p>
            <a:p>
              <a:pPr marR="6424930" algn="ctr">
                <a:lnSpc>
                  <a:spcPts val="1380"/>
                </a:lnSpc>
                <a:spcBef>
                  <a:spcPts val="409"/>
                </a:spcBef>
              </a:pPr>
              <a:r>
                <a:rPr sz="1200" spc="-25" dirty="0">
                  <a:solidFill>
                    <a:srgbClr val="FFFFFF"/>
                  </a:solidFill>
                  <a:latin typeface="Calibri"/>
                  <a:cs typeface="Calibri"/>
                </a:rPr>
                <a:t>(1-</a:t>
              </a:r>
              <a:endParaRPr sz="1200" dirty="0">
                <a:latin typeface="Calibri"/>
                <a:cs typeface="Calibri"/>
              </a:endParaRPr>
            </a:p>
            <a:p>
              <a:pPr marR="6423660" algn="ctr">
                <a:lnSpc>
                  <a:spcPts val="1380"/>
                </a:lnSpc>
              </a:pPr>
              <a:r>
                <a:rPr sz="1200" spc="-10" dirty="0">
                  <a:solidFill>
                    <a:srgbClr val="FFFFFF"/>
                  </a:solidFill>
                  <a:latin typeface="Calibri"/>
                  <a:cs typeface="Calibri"/>
                </a:rPr>
                <a:t>%Ris)</a:t>
              </a:r>
              <a:endParaRPr sz="1200" dirty="0">
                <a:latin typeface="Calibri"/>
                <a:cs typeface="Calibri"/>
              </a:endParaRPr>
            </a:p>
          </p:txBody>
        </p:sp>
        <p:grpSp>
          <p:nvGrpSpPr>
            <p:cNvPr id="164" name="object 164"/>
            <p:cNvGrpSpPr/>
            <p:nvPr/>
          </p:nvGrpSpPr>
          <p:grpSpPr>
            <a:xfrm>
              <a:off x="2441714" y="3635755"/>
              <a:ext cx="2420620" cy="1854835"/>
              <a:chOff x="2441714" y="3635755"/>
              <a:chExt cx="2420620" cy="1854835"/>
            </a:xfrm>
          </p:grpSpPr>
          <p:pic>
            <p:nvPicPr>
              <p:cNvPr id="165" name="object 165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2441714" y="3635755"/>
                <a:ext cx="2325623" cy="1289303"/>
              </a:xfrm>
              <a:prstGeom prst="rect">
                <a:avLst/>
              </a:prstGeom>
            </p:spPr>
          </p:pic>
          <p:sp>
            <p:nvSpPr>
              <p:cNvPr id="166" name="object 166"/>
              <p:cNvSpPr/>
              <p:nvPr/>
            </p:nvSpPr>
            <p:spPr>
              <a:xfrm>
                <a:off x="3191523" y="4138676"/>
                <a:ext cx="681355" cy="330835"/>
              </a:xfrm>
              <a:custGeom>
                <a:avLst/>
                <a:gdLst/>
                <a:ahLst/>
                <a:cxnLst/>
                <a:rect l="l" t="t" r="r" b="b"/>
                <a:pathLst>
                  <a:path w="681354" h="330835">
                    <a:moveTo>
                      <a:pt x="1524" y="214884"/>
                    </a:moveTo>
                    <a:lnTo>
                      <a:pt x="1524" y="211836"/>
                    </a:lnTo>
                    <a:lnTo>
                      <a:pt x="0" y="211836"/>
                    </a:lnTo>
                    <a:lnTo>
                      <a:pt x="0" y="213360"/>
                    </a:lnTo>
                    <a:lnTo>
                      <a:pt x="1524" y="214884"/>
                    </a:lnTo>
                    <a:close/>
                  </a:path>
                  <a:path w="681354" h="330835">
                    <a:moveTo>
                      <a:pt x="99060" y="330708"/>
                    </a:moveTo>
                    <a:lnTo>
                      <a:pt x="99060" y="309372"/>
                    </a:lnTo>
                    <a:lnTo>
                      <a:pt x="19812" y="207264"/>
                    </a:lnTo>
                    <a:lnTo>
                      <a:pt x="19812" y="205740"/>
                    </a:lnTo>
                    <a:lnTo>
                      <a:pt x="10668" y="205740"/>
                    </a:lnTo>
                    <a:lnTo>
                      <a:pt x="9144" y="207264"/>
                    </a:lnTo>
                    <a:lnTo>
                      <a:pt x="6096" y="207264"/>
                    </a:lnTo>
                    <a:lnTo>
                      <a:pt x="4572" y="208788"/>
                    </a:lnTo>
                    <a:lnTo>
                      <a:pt x="3048" y="208788"/>
                    </a:lnTo>
                    <a:lnTo>
                      <a:pt x="1524" y="210312"/>
                    </a:lnTo>
                    <a:lnTo>
                      <a:pt x="1524" y="216408"/>
                    </a:lnTo>
                    <a:lnTo>
                      <a:pt x="3048" y="216408"/>
                    </a:lnTo>
                    <a:lnTo>
                      <a:pt x="91440" y="329184"/>
                    </a:lnTo>
                    <a:lnTo>
                      <a:pt x="91440" y="330708"/>
                    </a:lnTo>
                    <a:lnTo>
                      <a:pt x="99060" y="330708"/>
                    </a:lnTo>
                    <a:close/>
                  </a:path>
                  <a:path w="681354" h="330835">
                    <a:moveTo>
                      <a:pt x="115824" y="178308"/>
                    </a:moveTo>
                    <a:lnTo>
                      <a:pt x="115824" y="172212"/>
                    </a:lnTo>
                    <a:lnTo>
                      <a:pt x="111252" y="172212"/>
                    </a:lnTo>
                    <a:lnTo>
                      <a:pt x="108204" y="173736"/>
                    </a:lnTo>
                    <a:lnTo>
                      <a:pt x="106680" y="173736"/>
                    </a:lnTo>
                    <a:lnTo>
                      <a:pt x="105156" y="175260"/>
                    </a:lnTo>
                    <a:lnTo>
                      <a:pt x="102108" y="175260"/>
                    </a:lnTo>
                    <a:lnTo>
                      <a:pt x="100584" y="176784"/>
                    </a:lnTo>
                    <a:lnTo>
                      <a:pt x="99060" y="176784"/>
                    </a:lnTo>
                    <a:lnTo>
                      <a:pt x="97536" y="178308"/>
                    </a:lnTo>
                    <a:lnTo>
                      <a:pt x="97536" y="181356"/>
                    </a:lnTo>
                    <a:lnTo>
                      <a:pt x="99060" y="309372"/>
                    </a:lnTo>
                    <a:lnTo>
                      <a:pt x="99060" y="330708"/>
                    </a:lnTo>
                    <a:lnTo>
                      <a:pt x="100584" y="329184"/>
                    </a:lnTo>
                    <a:lnTo>
                      <a:pt x="105156" y="329184"/>
                    </a:lnTo>
                    <a:lnTo>
                      <a:pt x="106680" y="327660"/>
                    </a:lnTo>
                    <a:lnTo>
                      <a:pt x="108204" y="327660"/>
                    </a:lnTo>
                    <a:lnTo>
                      <a:pt x="109728" y="326136"/>
                    </a:lnTo>
                    <a:lnTo>
                      <a:pt x="111252" y="326136"/>
                    </a:lnTo>
                    <a:lnTo>
                      <a:pt x="112776" y="324612"/>
                    </a:lnTo>
                    <a:lnTo>
                      <a:pt x="114300" y="324612"/>
                    </a:lnTo>
                    <a:lnTo>
                      <a:pt x="114300" y="320040"/>
                    </a:lnTo>
                    <a:lnTo>
                      <a:pt x="115824" y="178308"/>
                    </a:lnTo>
                    <a:close/>
                  </a:path>
                  <a:path w="681354" h="330835">
                    <a:moveTo>
                      <a:pt x="237744" y="201168"/>
                    </a:moveTo>
                    <a:lnTo>
                      <a:pt x="237744" y="188976"/>
                    </a:lnTo>
                    <a:lnTo>
                      <a:pt x="236220" y="182880"/>
                    </a:lnTo>
                    <a:lnTo>
                      <a:pt x="234696" y="175260"/>
                    </a:lnTo>
                    <a:lnTo>
                      <a:pt x="233172" y="170688"/>
                    </a:lnTo>
                    <a:lnTo>
                      <a:pt x="227076" y="161544"/>
                    </a:lnTo>
                    <a:lnTo>
                      <a:pt x="217932" y="152400"/>
                    </a:lnTo>
                    <a:lnTo>
                      <a:pt x="213360" y="150876"/>
                    </a:lnTo>
                    <a:lnTo>
                      <a:pt x="210312" y="149352"/>
                    </a:lnTo>
                    <a:lnTo>
                      <a:pt x="204216" y="147828"/>
                    </a:lnTo>
                    <a:lnTo>
                      <a:pt x="187452" y="147828"/>
                    </a:lnTo>
                    <a:lnTo>
                      <a:pt x="184404" y="149352"/>
                    </a:lnTo>
                    <a:lnTo>
                      <a:pt x="179832" y="149352"/>
                    </a:lnTo>
                    <a:lnTo>
                      <a:pt x="173736" y="152400"/>
                    </a:lnTo>
                    <a:lnTo>
                      <a:pt x="144780" y="161544"/>
                    </a:lnTo>
                    <a:lnTo>
                      <a:pt x="141732" y="163068"/>
                    </a:lnTo>
                    <a:lnTo>
                      <a:pt x="140208" y="163068"/>
                    </a:lnTo>
                    <a:lnTo>
                      <a:pt x="140208" y="164592"/>
                    </a:lnTo>
                    <a:lnTo>
                      <a:pt x="138684" y="167640"/>
                    </a:lnTo>
                    <a:lnTo>
                      <a:pt x="138684" y="169164"/>
                    </a:lnTo>
                    <a:lnTo>
                      <a:pt x="140208" y="172212"/>
                    </a:lnTo>
                    <a:lnTo>
                      <a:pt x="160020" y="230940"/>
                    </a:lnTo>
                    <a:lnTo>
                      <a:pt x="160020" y="173736"/>
                    </a:lnTo>
                    <a:lnTo>
                      <a:pt x="176784" y="167640"/>
                    </a:lnTo>
                    <a:lnTo>
                      <a:pt x="179832" y="166116"/>
                    </a:lnTo>
                    <a:lnTo>
                      <a:pt x="182880" y="166116"/>
                    </a:lnTo>
                    <a:lnTo>
                      <a:pt x="187452" y="164592"/>
                    </a:lnTo>
                    <a:lnTo>
                      <a:pt x="198120" y="164592"/>
                    </a:lnTo>
                    <a:lnTo>
                      <a:pt x="204216" y="167640"/>
                    </a:lnTo>
                    <a:lnTo>
                      <a:pt x="207264" y="170688"/>
                    </a:lnTo>
                    <a:lnTo>
                      <a:pt x="211836" y="173736"/>
                    </a:lnTo>
                    <a:lnTo>
                      <a:pt x="213360" y="178308"/>
                    </a:lnTo>
                    <a:lnTo>
                      <a:pt x="217932" y="187452"/>
                    </a:lnTo>
                    <a:lnTo>
                      <a:pt x="217932" y="228600"/>
                    </a:lnTo>
                    <a:lnTo>
                      <a:pt x="219456" y="227076"/>
                    </a:lnTo>
                    <a:lnTo>
                      <a:pt x="225552" y="222504"/>
                    </a:lnTo>
                    <a:lnTo>
                      <a:pt x="230124" y="217932"/>
                    </a:lnTo>
                    <a:lnTo>
                      <a:pt x="233172" y="213360"/>
                    </a:lnTo>
                    <a:lnTo>
                      <a:pt x="234696" y="207264"/>
                    </a:lnTo>
                    <a:lnTo>
                      <a:pt x="237744" y="201168"/>
                    </a:lnTo>
                    <a:close/>
                  </a:path>
                  <a:path w="681354" h="330835">
                    <a:moveTo>
                      <a:pt x="217932" y="228600"/>
                    </a:moveTo>
                    <a:lnTo>
                      <a:pt x="217932" y="199644"/>
                    </a:lnTo>
                    <a:lnTo>
                      <a:pt x="216408" y="202692"/>
                    </a:lnTo>
                    <a:lnTo>
                      <a:pt x="214884" y="207264"/>
                    </a:lnTo>
                    <a:lnTo>
                      <a:pt x="211836" y="213360"/>
                    </a:lnTo>
                    <a:lnTo>
                      <a:pt x="208788" y="214884"/>
                    </a:lnTo>
                    <a:lnTo>
                      <a:pt x="205740" y="217932"/>
                    </a:lnTo>
                    <a:lnTo>
                      <a:pt x="201168" y="220980"/>
                    </a:lnTo>
                    <a:lnTo>
                      <a:pt x="195072" y="222504"/>
                    </a:lnTo>
                    <a:lnTo>
                      <a:pt x="178308" y="228600"/>
                    </a:lnTo>
                    <a:lnTo>
                      <a:pt x="160020" y="173736"/>
                    </a:lnTo>
                    <a:lnTo>
                      <a:pt x="160020" y="230940"/>
                    </a:lnTo>
                    <a:lnTo>
                      <a:pt x="182880" y="298704"/>
                    </a:lnTo>
                    <a:lnTo>
                      <a:pt x="182880" y="300228"/>
                    </a:lnTo>
                    <a:lnTo>
                      <a:pt x="184404" y="300228"/>
                    </a:lnTo>
                    <a:lnTo>
                      <a:pt x="184404" y="242316"/>
                    </a:lnTo>
                    <a:lnTo>
                      <a:pt x="199644" y="237744"/>
                    </a:lnTo>
                    <a:lnTo>
                      <a:pt x="214884" y="231648"/>
                    </a:lnTo>
                    <a:lnTo>
                      <a:pt x="217932" y="228600"/>
                    </a:lnTo>
                    <a:close/>
                  </a:path>
                  <a:path w="681354" h="330835">
                    <a:moveTo>
                      <a:pt x="201168" y="294132"/>
                    </a:moveTo>
                    <a:lnTo>
                      <a:pt x="201168" y="292608"/>
                    </a:lnTo>
                    <a:lnTo>
                      <a:pt x="184404" y="242316"/>
                    </a:lnTo>
                    <a:lnTo>
                      <a:pt x="184404" y="300228"/>
                    </a:lnTo>
                    <a:lnTo>
                      <a:pt x="188976" y="300228"/>
                    </a:lnTo>
                    <a:lnTo>
                      <a:pt x="190500" y="298704"/>
                    </a:lnTo>
                    <a:lnTo>
                      <a:pt x="192024" y="298704"/>
                    </a:lnTo>
                    <a:lnTo>
                      <a:pt x="195072" y="297180"/>
                    </a:lnTo>
                    <a:lnTo>
                      <a:pt x="196596" y="297180"/>
                    </a:lnTo>
                    <a:lnTo>
                      <a:pt x="198120" y="295656"/>
                    </a:lnTo>
                    <a:lnTo>
                      <a:pt x="199644" y="295656"/>
                    </a:lnTo>
                    <a:lnTo>
                      <a:pt x="199644" y="294132"/>
                    </a:lnTo>
                    <a:lnTo>
                      <a:pt x="201168" y="294132"/>
                    </a:lnTo>
                    <a:close/>
                  </a:path>
                  <a:path w="681354" h="330835">
                    <a:moveTo>
                      <a:pt x="249936" y="141732"/>
                    </a:moveTo>
                    <a:lnTo>
                      <a:pt x="249936" y="138684"/>
                    </a:lnTo>
                    <a:lnTo>
                      <a:pt x="248412" y="138684"/>
                    </a:lnTo>
                    <a:lnTo>
                      <a:pt x="248412" y="140208"/>
                    </a:lnTo>
                    <a:lnTo>
                      <a:pt x="249936" y="141732"/>
                    </a:lnTo>
                    <a:close/>
                  </a:path>
                  <a:path w="681354" h="330835">
                    <a:moveTo>
                      <a:pt x="251460" y="146304"/>
                    </a:moveTo>
                    <a:lnTo>
                      <a:pt x="251460" y="134112"/>
                    </a:lnTo>
                    <a:lnTo>
                      <a:pt x="249936" y="135636"/>
                    </a:lnTo>
                    <a:lnTo>
                      <a:pt x="249936" y="144780"/>
                    </a:lnTo>
                    <a:lnTo>
                      <a:pt x="251460" y="146304"/>
                    </a:lnTo>
                    <a:close/>
                  </a:path>
                  <a:path w="681354" h="330835">
                    <a:moveTo>
                      <a:pt x="335280" y="170688"/>
                    </a:moveTo>
                    <a:lnTo>
                      <a:pt x="335280" y="143256"/>
                    </a:lnTo>
                    <a:lnTo>
                      <a:pt x="333756" y="138684"/>
                    </a:lnTo>
                    <a:lnTo>
                      <a:pt x="332232" y="135636"/>
                    </a:lnTo>
                    <a:lnTo>
                      <a:pt x="330708" y="129540"/>
                    </a:lnTo>
                    <a:lnTo>
                      <a:pt x="304800" y="109728"/>
                    </a:lnTo>
                    <a:lnTo>
                      <a:pt x="294132" y="109728"/>
                    </a:lnTo>
                    <a:lnTo>
                      <a:pt x="288036" y="111252"/>
                    </a:lnTo>
                    <a:lnTo>
                      <a:pt x="280416" y="112776"/>
                    </a:lnTo>
                    <a:lnTo>
                      <a:pt x="277368" y="114300"/>
                    </a:lnTo>
                    <a:lnTo>
                      <a:pt x="272796" y="115824"/>
                    </a:lnTo>
                    <a:lnTo>
                      <a:pt x="269748" y="118872"/>
                    </a:lnTo>
                    <a:lnTo>
                      <a:pt x="263652" y="121920"/>
                    </a:lnTo>
                    <a:lnTo>
                      <a:pt x="260604" y="124968"/>
                    </a:lnTo>
                    <a:lnTo>
                      <a:pt x="257556" y="126492"/>
                    </a:lnTo>
                    <a:lnTo>
                      <a:pt x="256032" y="129540"/>
                    </a:lnTo>
                    <a:lnTo>
                      <a:pt x="252984" y="131064"/>
                    </a:lnTo>
                    <a:lnTo>
                      <a:pt x="251460" y="132588"/>
                    </a:lnTo>
                    <a:lnTo>
                      <a:pt x="251460" y="149352"/>
                    </a:lnTo>
                    <a:lnTo>
                      <a:pt x="252984" y="149352"/>
                    </a:lnTo>
                    <a:lnTo>
                      <a:pt x="252984" y="150876"/>
                    </a:lnTo>
                    <a:lnTo>
                      <a:pt x="254508" y="152400"/>
                    </a:lnTo>
                    <a:lnTo>
                      <a:pt x="257556" y="152400"/>
                    </a:lnTo>
                    <a:lnTo>
                      <a:pt x="257556" y="150876"/>
                    </a:lnTo>
                    <a:lnTo>
                      <a:pt x="259080" y="149352"/>
                    </a:lnTo>
                    <a:lnTo>
                      <a:pt x="260604" y="146304"/>
                    </a:lnTo>
                    <a:lnTo>
                      <a:pt x="262128" y="144780"/>
                    </a:lnTo>
                    <a:lnTo>
                      <a:pt x="265176" y="143256"/>
                    </a:lnTo>
                    <a:lnTo>
                      <a:pt x="266700" y="140208"/>
                    </a:lnTo>
                    <a:lnTo>
                      <a:pt x="269748" y="138684"/>
                    </a:lnTo>
                    <a:lnTo>
                      <a:pt x="275844" y="132588"/>
                    </a:lnTo>
                    <a:lnTo>
                      <a:pt x="280416" y="131064"/>
                    </a:lnTo>
                    <a:lnTo>
                      <a:pt x="283464" y="129540"/>
                    </a:lnTo>
                    <a:lnTo>
                      <a:pt x="288036" y="128016"/>
                    </a:lnTo>
                    <a:lnTo>
                      <a:pt x="298704" y="128016"/>
                    </a:lnTo>
                    <a:lnTo>
                      <a:pt x="301752" y="129540"/>
                    </a:lnTo>
                    <a:lnTo>
                      <a:pt x="303276" y="131064"/>
                    </a:lnTo>
                    <a:lnTo>
                      <a:pt x="306324" y="132588"/>
                    </a:lnTo>
                    <a:lnTo>
                      <a:pt x="307848" y="134112"/>
                    </a:lnTo>
                    <a:lnTo>
                      <a:pt x="310896" y="135636"/>
                    </a:lnTo>
                    <a:lnTo>
                      <a:pt x="315468" y="144780"/>
                    </a:lnTo>
                    <a:lnTo>
                      <a:pt x="315468" y="147828"/>
                    </a:lnTo>
                    <a:lnTo>
                      <a:pt x="316992" y="150876"/>
                    </a:lnTo>
                    <a:lnTo>
                      <a:pt x="316992" y="153924"/>
                    </a:lnTo>
                    <a:lnTo>
                      <a:pt x="318516" y="158496"/>
                    </a:lnTo>
                    <a:lnTo>
                      <a:pt x="318516" y="211836"/>
                    </a:lnTo>
                    <a:lnTo>
                      <a:pt x="322564" y="204120"/>
                    </a:lnTo>
                    <a:lnTo>
                      <a:pt x="325755" y="196977"/>
                    </a:lnTo>
                    <a:lnTo>
                      <a:pt x="333756" y="176784"/>
                    </a:lnTo>
                    <a:lnTo>
                      <a:pt x="335280" y="170688"/>
                    </a:lnTo>
                    <a:close/>
                  </a:path>
                  <a:path w="681354" h="330835">
                    <a:moveTo>
                      <a:pt x="318516" y="211836"/>
                    </a:moveTo>
                    <a:lnTo>
                      <a:pt x="318516" y="161544"/>
                    </a:lnTo>
                    <a:lnTo>
                      <a:pt x="316992" y="167640"/>
                    </a:lnTo>
                    <a:lnTo>
                      <a:pt x="316992" y="172212"/>
                    </a:lnTo>
                    <a:lnTo>
                      <a:pt x="315468" y="178308"/>
                    </a:lnTo>
                    <a:lnTo>
                      <a:pt x="312420" y="184404"/>
                    </a:lnTo>
                    <a:lnTo>
                      <a:pt x="310896" y="190500"/>
                    </a:lnTo>
                    <a:lnTo>
                      <a:pt x="307848" y="198120"/>
                    </a:lnTo>
                    <a:lnTo>
                      <a:pt x="303276" y="207264"/>
                    </a:lnTo>
                    <a:lnTo>
                      <a:pt x="286512" y="243840"/>
                    </a:lnTo>
                    <a:lnTo>
                      <a:pt x="284988" y="245364"/>
                    </a:lnTo>
                    <a:lnTo>
                      <a:pt x="284988" y="257556"/>
                    </a:lnTo>
                    <a:lnTo>
                      <a:pt x="286512" y="259080"/>
                    </a:lnTo>
                    <a:lnTo>
                      <a:pt x="286512" y="260604"/>
                    </a:lnTo>
                    <a:lnTo>
                      <a:pt x="288036" y="260604"/>
                    </a:lnTo>
                    <a:lnTo>
                      <a:pt x="288036" y="262128"/>
                    </a:lnTo>
                    <a:lnTo>
                      <a:pt x="289560" y="263652"/>
                    </a:lnTo>
                    <a:lnTo>
                      <a:pt x="294132" y="263652"/>
                    </a:lnTo>
                    <a:lnTo>
                      <a:pt x="304800" y="260024"/>
                    </a:lnTo>
                    <a:lnTo>
                      <a:pt x="304800" y="242316"/>
                    </a:lnTo>
                    <a:lnTo>
                      <a:pt x="318516" y="211836"/>
                    </a:lnTo>
                    <a:close/>
                  </a:path>
                  <a:path w="681354" h="330835">
                    <a:moveTo>
                      <a:pt x="371856" y="236220"/>
                    </a:moveTo>
                    <a:lnTo>
                      <a:pt x="371856" y="228600"/>
                    </a:lnTo>
                    <a:lnTo>
                      <a:pt x="370332" y="227076"/>
                    </a:lnTo>
                    <a:lnTo>
                      <a:pt x="370332" y="225552"/>
                    </a:lnTo>
                    <a:lnTo>
                      <a:pt x="368808" y="224028"/>
                    </a:lnTo>
                    <a:lnTo>
                      <a:pt x="368808" y="222504"/>
                    </a:lnTo>
                    <a:lnTo>
                      <a:pt x="364236" y="222504"/>
                    </a:lnTo>
                    <a:lnTo>
                      <a:pt x="304800" y="242316"/>
                    </a:lnTo>
                    <a:lnTo>
                      <a:pt x="304800" y="260024"/>
                    </a:lnTo>
                    <a:lnTo>
                      <a:pt x="370332" y="237744"/>
                    </a:lnTo>
                    <a:lnTo>
                      <a:pt x="371856" y="236220"/>
                    </a:lnTo>
                    <a:close/>
                  </a:path>
                  <a:path w="681354" h="330835">
                    <a:moveTo>
                      <a:pt x="336804" y="158496"/>
                    </a:moveTo>
                    <a:lnTo>
                      <a:pt x="336804" y="152400"/>
                    </a:lnTo>
                    <a:lnTo>
                      <a:pt x="335280" y="147828"/>
                    </a:lnTo>
                    <a:lnTo>
                      <a:pt x="335280" y="164592"/>
                    </a:lnTo>
                    <a:lnTo>
                      <a:pt x="336804" y="158496"/>
                    </a:lnTo>
                    <a:close/>
                  </a:path>
                  <a:path w="681354" h="330835">
                    <a:moveTo>
                      <a:pt x="516636" y="129540"/>
                    </a:moveTo>
                    <a:lnTo>
                      <a:pt x="516636" y="120396"/>
                    </a:lnTo>
                    <a:lnTo>
                      <a:pt x="515112" y="117348"/>
                    </a:lnTo>
                    <a:lnTo>
                      <a:pt x="515112" y="115824"/>
                    </a:lnTo>
                    <a:lnTo>
                      <a:pt x="513588" y="114300"/>
                    </a:lnTo>
                    <a:lnTo>
                      <a:pt x="513588" y="112776"/>
                    </a:lnTo>
                    <a:lnTo>
                      <a:pt x="510540" y="112776"/>
                    </a:lnTo>
                    <a:lnTo>
                      <a:pt x="413004" y="99060"/>
                    </a:lnTo>
                    <a:lnTo>
                      <a:pt x="409956" y="99060"/>
                    </a:lnTo>
                    <a:lnTo>
                      <a:pt x="409956" y="103632"/>
                    </a:lnTo>
                    <a:lnTo>
                      <a:pt x="411480" y="105156"/>
                    </a:lnTo>
                    <a:lnTo>
                      <a:pt x="411480" y="106680"/>
                    </a:lnTo>
                    <a:lnTo>
                      <a:pt x="413004" y="108204"/>
                    </a:lnTo>
                    <a:lnTo>
                      <a:pt x="413004" y="111252"/>
                    </a:lnTo>
                    <a:lnTo>
                      <a:pt x="414528" y="112776"/>
                    </a:lnTo>
                    <a:lnTo>
                      <a:pt x="414528" y="114300"/>
                    </a:lnTo>
                    <a:lnTo>
                      <a:pt x="416052" y="114300"/>
                    </a:lnTo>
                    <a:lnTo>
                      <a:pt x="416052" y="115824"/>
                    </a:lnTo>
                    <a:lnTo>
                      <a:pt x="419100" y="115824"/>
                    </a:lnTo>
                    <a:lnTo>
                      <a:pt x="498348" y="126492"/>
                    </a:lnTo>
                    <a:lnTo>
                      <a:pt x="498348" y="148234"/>
                    </a:lnTo>
                    <a:lnTo>
                      <a:pt x="516636" y="129540"/>
                    </a:lnTo>
                    <a:close/>
                  </a:path>
                  <a:path w="681354" h="330835">
                    <a:moveTo>
                      <a:pt x="440436" y="188976"/>
                    </a:moveTo>
                    <a:lnTo>
                      <a:pt x="440436" y="184404"/>
                    </a:lnTo>
                    <a:lnTo>
                      <a:pt x="438912" y="184404"/>
                    </a:lnTo>
                    <a:lnTo>
                      <a:pt x="438912" y="188976"/>
                    </a:lnTo>
                    <a:lnTo>
                      <a:pt x="440436" y="188976"/>
                    </a:lnTo>
                    <a:close/>
                  </a:path>
                  <a:path w="681354" h="330835">
                    <a:moveTo>
                      <a:pt x="498348" y="148234"/>
                    </a:moveTo>
                    <a:lnTo>
                      <a:pt x="498348" y="126492"/>
                    </a:lnTo>
                    <a:lnTo>
                      <a:pt x="441960" y="182880"/>
                    </a:lnTo>
                    <a:lnTo>
                      <a:pt x="440436" y="182880"/>
                    </a:lnTo>
                    <a:lnTo>
                      <a:pt x="440436" y="192024"/>
                    </a:lnTo>
                    <a:lnTo>
                      <a:pt x="441960" y="193548"/>
                    </a:lnTo>
                    <a:lnTo>
                      <a:pt x="441960" y="196596"/>
                    </a:lnTo>
                    <a:lnTo>
                      <a:pt x="443484" y="198120"/>
                    </a:lnTo>
                    <a:lnTo>
                      <a:pt x="443484" y="199644"/>
                    </a:lnTo>
                    <a:lnTo>
                      <a:pt x="445008" y="199644"/>
                    </a:lnTo>
                    <a:lnTo>
                      <a:pt x="445008" y="201168"/>
                    </a:lnTo>
                    <a:lnTo>
                      <a:pt x="446532" y="201168"/>
                    </a:lnTo>
                    <a:lnTo>
                      <a:pt x="446532" y="199644"/>
                    </a:lnTo>
                    <a:lnTo>
                      <a:pt x="448056" y="199644"/>
                    </a:lnTo>
                    <a:lnTo>
                      <a:pt x="498348" y="148234"/>
                    </a:lnTo>
                    <a:close/>
                  </a:path>
                  <a:path w="681354" h="330835">
                    <a:moveTo>
                      <a:pt x="518160" y="128016"/>
                    </a:moveTo>
                    <a:lnTo>
                      <a:pt x="518160" y="123444"/>
                    </a:lnTo>
                    <a:lnTo>
                      <a:pt x="516636" y="123444"/>
                    </a:lnTo>
                    <a:lnTo>
                      <a:pt x="516636" y="128016"/>
                    </a:lnTo>
                    <a:lnTo>
                      <a:pt x="518160" y="128016"/>
                    </a:lnTo>
                    <a:close/>
                  </a:path>
                  <a:path w="681354" h="330835">
                    <a:moveTo>
                      <a:pt x="680847" y="100393"/>
                    </a:moveTo>
                    <a:lnTo>
                      <a:pt x="672084" y="57912"/>
                    </a:lnTo>
                    <a:lnTo>
                      <a:pt x="669536" y="49958"/>
                    </a:lnTo>
                    <a:lnTo>
                      <a:pt x="666559" y="42291"/>
                    </a:lnTo>
                    <a:lnTo>
                      <a:pt x="663297" y="35194"/>
                    </a:lnTo>
                    <a:lnTo>
                      <a:pt x="659892" y="28956"/>
                    </a:lnTo>
                    <a:lnTo>
                      <a:pt x="655320" y="19812"/>
                    </a:lnTo>
                    <a:lnTo>
                      <a:pt x="650748" y="13716"/>
                    </a:lnTo>
                    <a:lnTo>
                      <a:pt x="638556" y="4572"/>
                    </a:lnTo>
                    <a:lnTo>
                      <a:pt x="632460" y="1524"/>
                    </a:lnTo>
                    <a:lnTo>
                      <a:pt x="626364" y="0"/>
                    </a:lnTo>
                    <a:lnTo>
                      <a:pt x="611124" y="0"/>
                    </a:lnTo>
                    <a:lnTo>
                      <a:pt x="601789" y="3124"/>
                    </a:lnTo>
                    <a:lnTo>
                      <a:pt x="594360" y="6096"/>
                    </a:lnTo>
                    <a:lnTo>
                      <a:pt x="586740" y="10668"/>
                    </a:lnTo>
                    <a:lnTo>
                      <a:pt x="582168" y="16764"/>
                    </a:lnTo>
                    <a:lnTo>
                      <a:pt x="576072" y="21336"/>
                    </a:lnTo>
                    <a:lnTo>
                      <a:pt x="573024" y="28956"/>
                    </a:lnTo>
                    <a:lnTo>
                      <a:pt x="571500" y="36576"/>
                    </a:lnTo>
                    <a:lnTo>
                      <a:pt x="569976" y="42672"/>
                    </a:lnTo>
                    <a:lnTo>
                      <a:pt x="569976" y="51816"/>
                    </a:lnTo>
                    <a:lnTo>
                      <a:pt x="571500" y="60960"/>
                    </a:lnTo>
                    <a:lnTo>
                      <a:pt x="572023" y="68056"/>
                    </a:lnTo>
                    <a:lnTo>
                      <a:pt x="584454" y="106299"/>
                    </a:lnTo>
                    <a:lnTo>
                      <a:pt x="588264" y="114257"/>
                    </a:lnTo>
                    <a:lnTo>
                      <a:pt x="588264" y="42672"/>
                    </a:lnTo>
                    <a:lnTo>
                      <a:pt x="589788" y="36576"/>
                    </a:lnTo>
                    <a:lnTo>
                      <a:pt x="592836" y="27432"/>
                    </a:lnTo>
                    <a:lnTo>
                      <a:pt x="595884" y="24384"/>
                    </a:lnTo>
                    <a:lnTo>
                      <a:pt x="600456" y="21336"/>
                    </a:lnTo>
                    <a:lnTo>
                      <a:pt x="609600" y="16764"/>
                    </a:lnTo>
                    <a:lnTo>
                      <a:pt x="621792" y="16764"/>
                    </a:lnTo>
                    <a:lnTo>
                      <a:pt x="630936" y="21336"/>
                    </a:lnTo>
                    <a:lnTo>
                      <a:pt x="632460" y="24384"/>
                    </a:lnTo>
                    <a:lnTo>
                      <a:pt x="635508" y="25908"/>
                    </a:lnTo>
                    <a:lnTo>
                      <a:pt x="638556" y="30480"/>
                    </a:lnTo>
                    <a:lnTo>
                      <a:pt x="640080" y="33528"/>
                    </a:lnTo>
                    <a:lnTo>
                      <a:pt x="643128" y="38100"/>
                    </a:lnTo>
                    <a:lnTo>
                      <a:pt x="644652" y="42672"/>
                    </a:lnTo>
                    <a:lnTo>
                      <a:pt x="647700" y="47244"/>
                    </a:lnTo>
                    <a:lnTo>
                      <a:pt x="649224" y="51816"/>
                    </a:lnTo>
                    <a:lnTo>
                      <a:pt x="652272" y="57912"/>
                    </a:lnTo>
                    <a:lnTo>
                      <a:pt x="653796" y="65532"/>
                    </a:lnTo>
                    <a:lnTo>
                      <a:pt x="656844" y="74676"/>
                    </a:lnTo>
                    <a:lnTo>
                      <a:pt x="658368" y="80772"/>
                    </a:lnTo>
                    <a:lnTo>
                      <a:pt x="661416" y="89916"/>
                    </a:lnTo>
                    <a:lnTo>
                      <a:pt x="661416" y="97536"/>
                    </a:lnTo>
                    <a:lnTo>
                      <a:pt x="662940" y="102108"/>
                    </a:lnTo>
                    <a:lnTo>
                      <a:pt x="662940" y="138074"/>
                    </a:lnTo>
                    <a:lnTo>
                      <a:pt x="664464" y="137160"/>
                    </a:lnTo>
                    <a:lnTo>
                      <a:pt x="669036" y="132588"/>
                    </a:lnTo>
                    <a:lnTo>
                      <a:pt x="678180" y="120396"/>
                    </a:lnTo>
                    <a:lnTo>
                      <a:pt x="679704" y="112776"/>
                    </a:lnTo>
                    <a:lnTo>
                      <a:pt x="680561" y="106799"/>
                    </a:lnTo>
                    <a:lnTo>
                      <a:pt x="680847" y="100393"/>
                    </a:lnTo>
                    <a:close/>
                  </a:path>
                  <a:path w="681354" h="330835">
                    <a:moveTo>
                      <a:pt x="662940" y="138074"/>
                    </a:moveTo>
                    <a:lnTo>
                      <a:pt x="662940" y="102108"/>
                    </a:lnTo>
                    <a:lnTo>
                      <a:pt x="661416" y="106680"/>
                    </a:lnTo>
                    <a:lnTo>
                      <a:pt x="661416" y="112776"/>
                    </a:lnTo>
                    <a:lnTo>
                      <a:pt x="656844" y="121920"/>
                    </a:lnTo>
                    <a:lnTo>
                      <a:pt x="653796" y="124968"/>
                    </a:lnTo>
                    <a:lnTo>
                      <a:pt x="647700" y="128016"/>
                    </a:lnTo>
                    <a:lnTo>
                      <a:pt x="633984" y="132588"/>
                    </a:lnTo>
                    <a:lnTo>
                      <a:pt x="629412" y="131064"/>
                    </a:lnTo>
                    <a:lnTo>
                      <a:pt x="626364" y="131064"/>
                    </a:lnTo>
                    <a:lnTo>
                      <a:pt x="617220" y="124968"/>
                    </a:lnTo>
                    <a:lnTo>
                      <a:pt x="614172" y="120396"/>
                    </a:lnTo>
                    <a:lnTo>
                      <a:pt x="609600" y="115824"/>
                    </a:lnTo>
                    <a:lnTo>
                      <a:pt x="606552" y="108204"/>
                    </a:lnTo>
                    <a:lnTo>
                      <a:pt x="604242" y="103084"/>
                    </a:lnTo>
                    <a:lnTo>
                      <a:pt x="599051" y="89987"/>
                    </a:lnTo>
                    <a:lnTo>
                      <a:pt x="595884" y="82296"/>
                    </a:lnTo>
                    <a:lnTo>
                      <a:pt x="594360" y="74676"/>
                    </a:lnTo>
                    <a:lnTo>
                      <a:pt x="591312" y="68580"/>
                    </a:lnTo>
                    <a:lnTo>
                      <a:pt x="589788" y="60960"/>
                    </a:lnTo>
                    <a:lnTo>
                      <a:pt x="588264" y="54864"/>
                    </a:lnTo>
                    <a:lnTo>
                      <a:pt x="588264" y="114257"/>
                    </a:lnTo>
                    <a:lnTo>
                      <a:pt x="591312" y="120396"/>
                    </a:lnTo>
                    <a:lnTo>
                      <a:pt x="594360" y="128016"/>
                    </a:lnTo>
                    <a:lnTo>
                      <a:pt x="605028" y="138684"/>
                    </a:lnTo>
                    <a:lnTo>
                      <a:pt x="611124" y="143256"/>
                    </a:lnTo>
                    <a:lnTo>
                      <a:pt x="617220" y="146304"/>
                    </a:lnTo>
                    <a:lnTo>
                      <a:pt x="624840" y="147828"/>
                    </a:lnTo>
                    <a:lnTo>
                      <a:pt x="630936" y="149352"/>
                    </a:lnTo>
                    <a:lnTo>
                      <a:pt x="638556" y="147828"/>
                    </a:lnTo>
                    <a:lnTo>
                      <a:pt x="656844" y="141732"/>
                    </a:lnTo>
                    <a:lnTo>
                      <a:pt x="662940" y="1380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7" name="object 167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2603258" y="4923536"/>
                <a:ext cx="2258567" cy="566714"/>
              </a:xfrm>
              <a:prstGeom prst="rect">
                <a:avLst/>
              </a:prstGeom>
            </p:spPr>
          </p:pic>
        </p:grpSp>
        <p:sp>
          <p:nvSpPr>
            <p:cNvPr id="168" name="object 168"/>
            <p:cNvSpPr txBox="1"/>
            <p:nvPr/>
          </p:nvSpPr>
          <p:spPr>
            <a:xfrm>
              <a:off x="3358660" y="5057137"/>
              <a:ext cx="61849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10" dirty="0">
                  <a:solidFill>
                    <a:srgbClr val="FFFFFF"/>
                  </a:solidFill>
                  <a:latin typeface="Calibri"/>
                  <a:cs typeface="Calibri"/>
                </a:rPr>
                <a:t>VP2&lt;0</a:t>
              </a:r>
              <a:endParaRPr sz="1800">
                <a:latin typeface="Calibri"/>
                <a:cs typeface="Calibri"/>
              </a:endParaRPr>
            </a:p>
          </p:txBody>
        </p:sp>
        <p:pic>
          <p:nvPicPr>
            <p:cNvPr id="169" name="object 16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10238" y="4412996"/>
              <a:ext cx="1485899" cy="1488947"/>
            </a:xfrm>
            <a:prstGeom prst="rect">
              <a:avLst/>
            </a:prstGeom>
          </p:spPr>
        </p:pic>
        <p:sp>
          <p:nvSpPr>
            <p:cNvPr id="170" name="object 170"/>
            <p:cNvSpPr txBox="1"/>
            <p:nvPr/>
          </p:nvSpPr>
          <p:spPr>
            <a:xfrm>
              <a:off x="5598940" y="4962649"/>
              <a:ext cx="508634" cy="3308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spc="-10" dirty="0">
                  <a:solidFill>
                    <a:srgbClr val="FFFFFF"/>
                  </a:solidFill>
                  <a:latin typeface="Calibri"/>
                  <a:cs typeface="Calibri"/>
                </a:rPr>
                <a:t>-</a:t>
              </a:r>
              <a:r>
                <a:rPr sz="2000" spc="-25" dirty="0">
                  <a:solidFill>
                    <a:srgbClr val="FFFFFF"/>
                  </a:solidFill>
                  <a:latin typeface="Calibri"/>
                  <a:cs typeface="Calibri"/>
                </a:rPr>
                <a:t>VP2</a:t>
              </a:r>
              <a:endParaRPr sz="2000">
                <a:latin typeface="Calibri"/>
                <a:cs typeface="Calibri"/>
              </a:endParaRPr>
            </a:p>
          </p:txBody>
        </p:sp>
        <p:pic>
          <p:nvPicPr>
            <p:cNvPr id="171" name="object 17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805643" y="4883082"/>
              <a:ext cx="471007" cy="548774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58723" y="4412996"/>
              <a:ext cx="1488947" cy="1488947"/>
            </a:xfrm>
            <a:prstGeom prst="rect">
              <a:avLst/>
            </a:prstGeom>
          </p:spPr>
        </p:pic>
        <p:sp>
          <p:nvSpPr>
            <p:cNvPr id="173" name="object 173"/>
            <p:cNvSpPr txBox="1"/>
            <p:nvPr/>
          </p:nvSpPr>
          <p:spPr>
            <a:xfrm>
              <a:off x="7708155" y="4823966"/>
              <a:ext cx="993140" cy="611505"/>
            </a:xfrm>
            <a:prstGeom prst="rect">
              <a:avLst/>
            </a:prstGeom>
          </p:spPr>
          <p:txBody>
            <a:bodyPr vert="horz" wrap="square" lIns="0" tIns="42545" rIns="0" bIns="0" rtlCol="0">
              <a:spAutoFit/>
            </a:bodyPr>
            <a:lstStyle/>
            <a:p>
              <a:pPr marL="12700" marR="5080" indent="129539">
                <a:lnSpc>
                  <a:spcPts val="2210"/>
                </a:lnSpc>
                <a:spcBef>
                  <a:spcPts val="335"/>
                </a:spcBef>
              </a:pPr>
              <a:r>
                <a:rPr sz="2000" spc="-30" dirty="0">
                  <a:solidFill>
                    <a:srgbClr val="FFFFFF"/>
                  </a:solidFill>
                  <a:latin typeface="Calibri"/>
                  <a:cs typeface="Calibri"/>
                </a:rPr>
                <a:t>Div.</a:t>
              </a:r>
              <a:r>
                <a:rPr sz="2000" spc="-75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2000" spc="-25" dirty="0">
                  <a:solidFill>
                    <a:srgbClr val="FFFFFF"/>
                  </a:solidFill>
                  <a:latin typeface="Calibri"/>
                  <a:cs typeface="Calibri"/>
                </a:rPr>
                <a:t>Da </a:t>
              </a:r>
              <a:r>
                <a:rPr sz="2000" spc="-30" dirty="0">
                  <a:solidFill>
                    <a:srgbClr val="FFFFFF"/>
                  </a:solidFill>
                  <a:latin typeface="Calibri"/>
                  <a:cs typeface="Calibri"/>
                </a:rPr>
                <a:t>sottozero</a:t>
              </a:r>
              <a:endParaRPr sz="2000">
                <a:latin typeface="Calibri"/>
                <a:cs typeface="Calibri"/>
              </a:endParaRPr>
            </a:p>
          </p:txBody>
        </p:sp>
        <p:pic>
          <p:nvPicPr>
            <p:cNvPr id="174" name="object 17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17858" y="3585464"/>
              <a:ext cx="1394460" cy="388620"/>
            </a:xfrm>
            <a:prstGeom prst="rect">
              <a:avLst/>
            </a:prstGeom>
          </p:spPr>
        </p:pic>
      </p:grpSp>
      <p:sp>
        <p:nvSpPr>
          <p:cNvPr id="24" name="Titolo 1">
            <a:extLst>
              <a:ext uri="{FF2B5EF4-FFF2-40B4-BE49-F238E27FC236}">
                <a16:creationId xmlns:a16="http://schemas.microsoft.com/office/drawing/2014/main" id="{E7C08136-C835-2C7E-6DA6-010DADA59470}"/>
              </a:ext>
            </a:extLst>
          </p:cNvPr>
          <p:cNvSpPr txBox="1">
            <a:spLocks/>
          </p:cNvSpPr>
          <p:nvPr/>
        </p:nvSpPr>
        <p:spPr bwMode="auto">
          <a:xfrm>
            <a:off x="256650" y="-15576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La fiscalità per il socio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4822AAA1-23DB-97C7-215F-4099DC788D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8</a:t>
            </a:fld>
            <a:endParaRPr lang="it-I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58841" y="1266341"/>
            <a:ext cx="8569325" cy="49180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Courier New"/>
              <a:buChar char="•"/>
              <a:tabLst>
                <a:tab pos="354965" algn="l"/>
              </a:tabLst>
            </a:pPr>
            <a:r>
              <a:rPr sz="2800" spc="-25" dirty="0">
                <a:latin typeface="Calibri"/>
                <a:cs typeface="Calibri"/>
              </a:rPr>
              <a:t>Valore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Catastale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(VC=VA):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100.000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Courier New"/>
              <a:buChar char="•"/>
              <a:tabLst>
                <a:tab pos="354965" algn="l"/>
              </a:tabLst>
            </a:pPr>
            <a:r>
              <a:rPr sz="2800" spc="-25" dirty="0">
                <a:latin typeface="Calibri"/>
                <a:cs typeface="Calibri"/>
              </a:rPr>
              <a:t>Valore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fiscalmente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riconosciuto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(VF):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150.000</a:t>
            </a:r>
            <a:endParaRPr sz="2800" dirty="0">
              <a:latin typeface="Calibri"/>
              <a:cs typeface="Calibri"/>
            </a:endParaRPr>
          </a:p>
          <a:p>
            <a:pPr marL="354965" marR="796290" indent="-342900">
              <a:lnSpc>
                <a:spcPct val="100000"/>
              </a:lnSpc>
              <a:spcBef>
                <a:spcPts val="670"/>
              </a:spcBef>
              <a:buFont typeface="Courier New"/>
              <a:buChar char="•"/>
              <a:tabLst>
                <a:tab pos="354965" algn="l"/>
              </a:tabLst>
            </a:pPr>
            <a:r>
              <a:rPr sz="2800" spc="-25" dirty="0">
                <a:latin typeface="Calibri"/>
                <a:cs typeface="Calibri"/>
              </a:rPr>
              <a:t>Valore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della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partecipazione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ante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assegnazione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(VP): 200.000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Courier New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Utilizzo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riserve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capitale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(150.000)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da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cui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%Ris=1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ourier New"/>
              <a:buChar char="•"/>
            </a:pP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Courier New"/>
              <a:buChar char="•"/>
              <a:tabLst>
                <a:tab pos="354965" algn="l"/>
              </a:tabLst>
            </a:pPr>
            <a:r>
              <a:rPr sz="2000" i="1" dirty="0">
                <a:latin typeface="Calibri"/>
                <a:cs typeface="Calibri"/>
              </a:rPr>
              <a:t>IIS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=0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quindi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0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0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Courier New"/>
              <a:buChar char="•"/>
              <a:tabLst>
                <a:tab pos="354965" algn="l"/>
              </a:tabLst>
            </a:pPr>
            <a:r>
              <a:rPr sz="2000" i="1" dirty="0">
                <a:latin typeface="Calibri"/>
                <a:cs typeface="Calibri"/>
              </a:rPr>
              <a:t>VP2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VP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–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VS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VP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–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VA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200.000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–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100.000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100.000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&gt;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i="1" spc="-50" dirty="0">
                <a:latin typeface="Calibri"/>
                <a:cs typeface="Calibri"/>
              </a:rPr>
              <a:t>0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quindi</a:t>
            </a:r>
            <a:r>
              <a:rPr sz="20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nessuna</a:t>
            </a:r>
            <a:r>
              <a:rPr sz="2000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tax</a:t>
            </a:r>
            <a:r>
              <a:rPr sz="20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sui</a:t>
            </a:r>
            <a:r>
              <a:rPr sz="20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spc="-20" dirty="0">
                <a:solidFill>
                  <a:srgbClr val="FF0000"/>
                </a:solidFill>
                <a:latin typeface="Calibri"/>
                <a:cs typeface="Calibri"/>
              </a:rPr>
              <a:t>soci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800" dirty="0">
                <a:latin typeface="Calibri"/>
                <a:cs typeface="Calibri"/>
              </a:rPr>
              <a:t>Costo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operazione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imposte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dirette: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i="1" dirty="0">
                <a:latin typeface="Calibri"/>
                <a:cs typeface="Calibri"/>
              </a:rPr>
              <a:t>(valutare</a:t>
            </a:r>
            <a:r>
              <a:rPr sz="2400" i="1" spc="1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la</a:t>
            </a:r>
            <a:r>
              <a:rPr sz="2400" i="1" spc="1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convenienza</a:t>
            </a:r>
            <a:r>
              <a:rPr sz="2400" i="1" spc="114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ad</a:t>
            </a:r>
            <a:r>
              <a:rPr sz="2400" i="1" spc="10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assegnare</a:t>
            </a:r>
            <a:r>
              <a:rPr sz="2400" i="1" spc="11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ad</a:t>
            </a:r>
            <a:r>
              <a:rPr sz="2400" i="1" spc="10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un</a:t>
            </a:r>
            <a:r>
              <a:rPr sz="2400" i="1" spc="1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valore</a:t>
            </a:r>
            <a:r>
              <a:rPr sz="2400" i="1" spc="1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maggiore</a:t>
            </a:r>
            <a:r>
              <a:rPr sz="2400" i="1" spc="8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…)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6088143" y="852423"/>
            <a:ext cx="2799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molto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conveniente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50" dirty="0">
                <a:solidFill>
                  <a:srgbClr val="FFFFFF"/>
                </a:solidFill>
                <a:latin typeface="Calibri"/>
                <a:cs typeface="Calibri"/>
              </a:rPr>
              <a:t>…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4" name="Titolo 1">
            <a:extLst>
              <a:ext uri="{FF2B5EF4-FFF2-40B4-BE49-F238E27FC236}">
                <a16:creationId xmlns:a16="http://schemas.microsoft.com/office/drawing/2014/main" id="{C5957CD4-D748-E028-434F-C786BD2A5DFC}"/>
              </a:ext>
            </a:extLst>
          </p:cNvPr>
          <p:cNvSpPr txBox="1">
            <a:spLocks/>
          </p:cNvSpPr>
          <p:nvPr/>
        </p:nvSpPr>
        <p:spPr bwMode="auto">
          <a:xfrm>
            <a:off x="28661" y="191911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Un caso molto conveniente …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3F04A56E-4692-FCF3-EF59-F7C93EAA52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9</a:t>
            </a:fld>
            <a:endParaRPr lang="it-I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973587" y="852423"/>
            <a:ext cx="1913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imposte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indirette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47" name="object 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373039"/>
              </p:ext>
            </p:extLst>
          </p:nvPr>
        </p:nvGraphicFramePr>
        <p:xfrm>
          <a:off x="257570" y="2037397"/>
          <a:ext cx="8539476" cy="2783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1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3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3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37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37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30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69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Tipologia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Immobil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2860">
                        <a:lnSpc>
                          <a:spcPts val="1190"/>
                        </a:lnSpc>
                        <a:spcBef>
                          <a:spcPts val="180"/>
                        </a:spcBef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IVA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FD965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Registro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ts val="119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Fisso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2F5396"/>
                    </a:solidFill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Registro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1590">
                        <a:lnSpc>
                          <a:spcPts val="1190"/>
                        </a:lnSpc>
                        <a:spcBef>
                          <a:spcPts val="180"/>
                        </a:spcBef>
                      </a:pP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2F5396"/>
                    </a:solidFill>
                  </a:tcPr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RegProp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RegProp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1590">
                        <a:lnSpc>
                          <a:spcPts val="1190"/>
                        </a:lnSpc>
                        <a:spcBef>
                          <a:spcPts val="180"/>
                        </a:spcBef>
                      </a:pPr>
                      <a:r>
                        <a:rPr sz="10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IpocatPr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2225">
                        <a:lnSpc>
                          <a:spcPts val="1190"/>
                        </a:lnSpc>
                        <a:spcBef>
                          <a:spcPts val="180"/>
                        </a:spcBef>
                      </a:pP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538234"/>
                    </a:solidFill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IpoCat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538234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IpoCatAG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R w="9525">
                      <a:solidFill>
                        <a:srgbClr val="ED7C30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5382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abitativi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da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costruttrici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(&lt;5</a:t>
                      </a:r>
                      <a:r>
                        <a:rPr sz="8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 opzione)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abitativi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8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Prima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casa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da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impresa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costr.</a:t>
                      </a:r>
                      <a:r>
                        <a:rPr sz="8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(&lt;</a:t>
                      </a:r>
                      <a:r>
                        <a:rPr sz="8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8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opzione)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65" dirty="0">
                          <a:latin typeface="Calibri"/>
                          <a:cs typeface="Calibri"/>
                        </a:rPr>
                        <a:t>lusso</a:t>
                      </a:r>
                      <a:r>
                        <a:rPr sz="80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da</a:t>
                      </a:r>
                      <a:r>
                        <a:rPr sz="8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impresa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costr.</a:t>
                      </a:r>
                      <a:r>
                        <a:rPr sz="8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(&lt;</a:t>
                      </a:r>
                      <a:r>
                        <a:rPr sz="8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8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opzione)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abitativi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(&gt;5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Opzione</a:t>
                      </a:r>
                      <a:r>
                        <a:rPr sz="800" spc="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Acq.</a:t>
                      </a:r>
                      <a:r>
                        <a:rPr sz="8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latin typeface="Calibri"/>
                          <a:cs typeface="Calibri"/>
                        </a:rPr>
                        <a:t>FC)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0" dirty="0">
                          <a:latin typeface="Calibri"/>
                          <a:cs typeface="Calibri"/>
                        </a:rPr>
                        <a:t>9,0%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4,50%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abitativi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8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Prima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casa</a:t>
                      </a:r>
                      <a:r>
                        <a:rPr sz="800" spc="4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(&gt;5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Opzione</a:t>
                      </a:r>
                      <a:r>
                        <a:rPr sz="8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Acq.</a:t>
                      </a:r>
                      <a:r>
                        <a:rPr sz="8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latin typeface="Calibri"/>
                          <a:cs typeface="Calibri"/>
                        </a:rPr>
                        <a:t>FC)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Strumentali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(&lt;5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opzione)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Strumentali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(&gt;5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opzione)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strumentali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(acquistato</a:t>
                      </a:r>
                      <a:r>
                        <a:rPr sz="800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senza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addebito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IVA)</a:t>
                      </a:r>
                      <a:r>
                        <a:rPr sz="80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dest.</a:t>
                      </a:r>
                      <a:r>
                        <a:rPr sz="8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Commerciale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3,00%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strumentali</a:t>
                      </a:r>
                      <a:r>
                        <a:rPr sz="80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(acquistato</a:t>
                      </a:r>
                      <a:r>
                        <a:rPr sz="800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senza</a:t>
                      </a:r>
                      <a:r>
                        <a:rPr sz="80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addebito</a:t>
                      </a:r>
                      <a:r>
                        <a:rPr sz="80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IVA)</a:t>
                      </a:r>
                      <a:r>
                        <a:rPr sz="80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altre</a:t>
                      </a:r>
                      <a:r>
                        <a:rPr sz="8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destinazioni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9%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4,50%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Terreno</a:t>
                      </a:r>
                      <a:r>
                        <a:rPr sz="800" spc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Edificabile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Terreno</a:t>
                      </a:r>
                      <a:r>
                        <a:rPr sz="800" spc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Agricolo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15%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7,50%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Terreno</a:t>
                      </a:r>
                      <a:r>
                        <a:rPr sz="800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non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Edificabile</a:t>
                      </a:r>
                      <a:r>
                        <a:rPr sz="80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né</a:t>
                      </a:r>
                      <a:r>
                        <a:rPr sz="800" spc="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Agricolo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9%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4,50%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Altri</a:t>
                      </a:r>
                      <a:r>
                        <a:rPr sz="80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Beni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10" dirty="0">
                          <a:latin typeface="Calibri"/>
                          <a:cs typeface="Calibri"/>
                        </a:rPr>
                        <a:t>Terreno</a:t>
                      </a:r>
                      <a:r>
                        <a:rPr sz="800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Agricolo</a:t>
                      </a:r>
                      <a:r>
                        <a:rPr sz="800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(cessionario</a:t>
                      </a:r>
                      <a:r>
                        <a:rPr sz="800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Colt.</a:t>
                      </a:r>
                      <a:r>
                        <a:rPr sz="80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Diretto</a:t>
                      </a:r>
                      <a:r>
                        <a:rPr sz="800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IAP)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1,00%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48" name="object 1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8282" y="2216911"/>
            <a:ext cx="149352" cy="147828"/>
          </a:xfrm>
          <a:prstGeom prst="rect">
            <a:avLst/>
          </a:prstGeom>
        </p:spPr>
      </p:pic>
      <p:pic>
        <p:nvPicPr>
          <p:cNvPr id="149" name="object 1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3394" y="2216911"/>
            <a:ext cx="147828" cy="147828"/>
          </a:xfrm>
          <a:prstGeom prst="rect">
            <a:avLst/>
          </a:prstGeom>
        </p:spPr>
      </p:pic>
      <p:pic>
        <p:nvPicPr>
          <p:cNvPr id="150" name="object 15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6982" y="2216911"/>
            <a:ext cx="149352" cy="147828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2094" y="2216911"/>
            <a:ext cx="147828" cy="147828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5682" y="2216911"/>
            <a:ext cx="149352" cy="147828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0794" y="2216911"/>
            <a:ext cx="147828" cy="147828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4382" y="2216911"/>
            <a:ext cx="149352" cy="147828"/>
          </a:xfrm>
          <a:prstGeom prst="rect">
            <a:avLst/>
          </a:prstGeom>
        </p:spPr>
      </p:pic>
      <p:pic>
        <p:nvPicPr>
          <p:cNvPr id="155" name="object 1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9494" y="2216911"/>
            <a:ext cx="147828" cy="147828"/>
          </a:xfrm>
          <a:prstGeom prst="rect">
            <a:avLst/>
          </a:prstGeom>
        </p:spPr>
      </p:pic>
      <p:pic>
        <p:nvPicPr>
          <p:cNvPr id="156" name="object 15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3082" y="2216911"/>
            <a:ext cx="149352" cy="147828"/>
          </a:xfrm>
          <a:prstGeom prst="rect">
            <a:avLst/>
          </a:prstGeom>
        </p:spPr>
      </p:pic>
      <p:pic>
        <p:nvPicPr>
          <p:cNvPr id="157" name="object 15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0115" y="2216911"/>
            <a:ext cx="147828" cy="147828"/>
          </a:xfrm>
          <a:prstGeom prst="rect">
            <a:avLst/>
          </a:prstGeom>
        </p:spPr>
      </p:pic>
      <p:sp>
        <p:nvSpPr>
          <p:cNvPr id="24" name="Titolo 1">
            <a:extLst>
              <a:ext uri="{FF2B5EF4-FFF2-40B4-BE49-F238E27FC236}">
                <a16:creationId xmlns:a16="http://schemas.microsoft.com/office/drawing/2014/main" id="{48A8B790-4125-A1DF-F241-F5554BCF6F7C}"/>
              </a:ext>
            </a:extLst>
          </p:cNvPr>
          <p:cNvSpPr txBox="1">
            <a:spLocks/>
          </p:cNvSpPr>
          <p:nvPr/>
        </p:nvSpPr>
        <p:spPr bwMode="auto">
          <a:xfrm>
            <a:off x="86380" y="349899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Le imposte indirette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A9AF1709-F386-0CDD-CB98-4EA4A857E0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10</a:t>
            </a:fld>
            <a:endParaRPr lang="it-IT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7593855" y="852423"/>
            <a:ext cx="1292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Esempi</a:t>
            </a:r>
            <a:r>
              <a:rPr sz="1800" i="1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risolti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5" name="Immagine 154">
            <a:extLst>
              <a:ext uri="{FF2B5EF4-FFF2-40B4-BE49-F238E27FC236}">
                <a16:creationId xmlns:a16="http://schemas.microsoft.com/office/drawing/2014/main" id="{2EB969E5-E631-CD15-9F6F-64187FBB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6701"/>
            <a:ext cx="9144000" cy="2184598"/>
          </a:xfrm>
          <a:prstGeom prst="rect">
            <a:avLst/>
          </a:prstGeom>
        </p:spPr>
      </p:pic>
      <p:sp>
        <p:nvSpPr>
          <p:cNvPr id="24" name="Titolo 1">
            <a:extLst>
              <a:ext uri="{FF2B5EF4-FFF2-40B4-BE49-F238E27FC236}">
                <a16:creationId xmlns:a16="http://schemas.microsoft.com/office/drawing/2014/main" id="{66168F81-D44B-A9F0-41E6-1CA5CCE07008}"/>
              </a:ext>
            </a:extLst>
          </p:cNvPr>
          <p:cNvSpPr txBox="1">
            <a:spLocks/>
          </p:cNvSpPr>
          <p:nvPr/>
        </p:nvSpPr>
        <p:spPr bwMode="auto">
          <a:xfrm>
            <a:off x="23327" y="369711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Esempi risolti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D2F92E0C-2770-6F1E-A29E-B0C1668612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11</a:t>
            </a:fld>
            <a:endParaRPr lang="it-I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1332" y="3447542"/>
            <a:ext cx="8903715" cy="2739390"/>
            <a:chOff x="131332" y="3972559"/>
            <a:chExt cx="8903715" cy="2739390"/>
          </a:xfrm>
        </p:grpSpPr>
        <p:sp>
          <p:nvSpPr>
            <p:cNvPr id="5" name="object 5"/>
            <p:cNvSpPr/>
            <p:nvPr/>
          </p:nvSpPr>
          <p:spPr>
            <a:xfrm>
              <a:off x="7803147" y="6410197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03147" y="6414769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03147" y="6419341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03147" y="6423913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03147" y="6428485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03147" y="6433057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03147" y="6437629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03147" y="6442201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03147" y="6446773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03147" y="6451345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03147" y="6455917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03147" y="6460489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03147" y="6465061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03147" y="6469633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03147" y="6474205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03147" y="6702805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03147" y="6707377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03147" y="6711949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31332" y="3972559"/>
              <a:ext cx="8837676" cy="2395727"/>
            </a:xfrm>
            <a:prstGeom prst="rect">
              <a:avLst/>
            </a:prstGeom>
          </p:spPr>
        </p:pic>
      </p:grpSp>
      <p:graphicFrame>
        <p:nvGraphicFramePr>
          <p:cNvPr id="146" name="object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044672"/>
              </p:ext>
            </p:extLst>
          </p:nvPr>
        </p:nvGraphicFramePr>
        <p:xfrm>
          <a:off x="172228" y="1143000"/>
          <a:ext cx="8785859" cy="2223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Capannone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D8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it-IT" sz="1800" spc="-20" dirty="0">
                          <a:latin typeface="Calibri"/>
                          <a:cs typeface="Calibri"/>
                        </a:rPr>
                        <a:t>2007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277.200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300.000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214.000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8" name="object 148"/>
          <p:cNvSpPr txBox="1"/>
          <p:nvPr/>
        </p:nvSpPr>
        <p:spPr>
          <a:xfrm>
            <a:off x="6309123" y="852423"/>
            <a:ext cx="257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1: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Sas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due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</a:t>
            </a:r>
            <a:r>
              <a:rPr sz="18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FFFFFF"/>
                </a:solidFill>
                <a:latin typeface="Calibri"/>
                <a:cs typeface="Calibri"/>
              </a:rPr>
              <a:t>50%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0" name="Titolo 1">
            <a:extLst>
              <a:ext uri="{FF2B5EF4-FFF2-40B4-BE49-F238E27FC236}">
                <a16:creationId xmlns:a16="http://schemas.microsoft.com/office/drawing/2014/main" id="{02BDA74A-1DD3-6FBE-125B-5802E14D78F3}"/>
              </a:ext>
            </a:extLst>
          </p:cNvPr>
          <p:cNvSpPr txBox="1">
            <a:spLocks/>
          </p:cNvSpPr>
          <p:nvPr/>
        </p:nvSpPr>
        <p:spPr bwMode="auto">
          <a:xfrm>
            <a:off x="57158" y="-71486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1: Sas due soci al 50%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D726F12E-6A04-403C-D36D-D5086D3245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12</a:t>
            </a:fld>
            <a:endParaRPr lang="it-IT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41408"/>
              </p:ext>
            </p:extLst>
          </p:nvPr>
        </p:nvGraphicFramePr>
        <p:xfrm>
          <a:off x="172228" y="1219200"/>
          <a:ext cx="8785859" cy="2223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Capannone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D8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it-IT" sz="1800" spc="-20" dirty="0">
                          <a:latin typeface="Calibri"/>
                          <a:cs typeface="Calibri"/>
                        </a:rPr>
                        <a:t>1978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201.600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230.000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7" name="object 147"/>
          <p:cNvSpPr txBox="1"/>
          <p:nvPr/>
        </p:nvSpPr>
        <p:spPr>
          <a:xfrm>
            <a:off x="6306075" y="852423"/>
            <a:ext cx="2581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2: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Snc</a:t>
            </a:r>
            <a:r>
              <a:rPr sz="1800" i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due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</a:t>
            </a:r>
            <a:r>
              <a:rPr sz="18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i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FFFFFF"/>
                </a:solidFill>
                <a:latin typeface="Calibri"/>
                <a:cs typeface="Calibri"/>
              </a:rPr>
              <a:t>50%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8" name="object 148"/>
          <p:cNvPicPr/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2480" y="3721862"/>
            <a:ext cx="8796528" cy="2253996"/>
          </a:xfrm>
          <a:prstGeom prst="rect">
            <a:avLst/>
          </a:prstGeom>
        </p:spPr>
      </p:pic>
      <p:sp>
        <p:nvSpPr>
          <p:cNvPr id="24" name="Titolo 1">
            <a:extLst>
              <a:ext uri="{FF2B5EF4-FFF2-40B4-BE49-F238E27FC236}">
                <a16:creationId xmlns:a16="http://schemas.microsoft.com/office/drawing/2014/main" id="{8B69EE78-BC10-7730-43FC-18B814169CF8}"/>
              </a:ext>
            </a:extLst>
          </p:cNvPr>
          <p:cNvSpPr txBox="1">
            <a:spLocks/>
          </p:cNvSpPr>
          <p:nvPr/>
        </p:nvSpPr>
        <p:spPr bwMode="auto">
          <a:xfrm>
            <a:off x="57158" y="32145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2: Snc due soci al 50%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996457A9-11EB-8A5B-F9F9-86BEED266E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13</a:t>
            </a:fld>
            <a:endParaRPr lang="it-IT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02895" y="6160009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02895" y="6164581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02895" y="6169153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02895" y="6173725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02895" y="6178297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02895" y="6182869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02895" y="6187441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02895" y="6192013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02895" y="6196585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802895" y="6201157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802895" y="6205729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802895" y="6210301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02895" y="6214873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02895" y="6219445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02895" y="6224017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802895" y="6550914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02895" y="6555486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02895" y="6560058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4" name="object 144"/>
          <p:cNvPicPr/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3736" y="3978404"/>
            <a:ext cx="8796528" cy="2095499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145" name="object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367669"/>
              </p:ext>
            </p:extLst>
          </p:nvPr>
        </p:nvGraphicFramePr>
        <p:xfrm>
          <a:off x="172228" y="1371600"/>
          <a:ext cx="8785859" cy="2593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Capannone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D8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it-IT" sz="1800" spc="-20" dirty="0">
                          <a:latin typeface="Calibri"/>
                          <a:cs typeface="Calibri"/>
                        </a:rPr>
                        <a:t>2006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129.780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140.000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120.600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manutenzione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it-IT" sz="1800" spc="-20" dirty="0">
                          <a:latin typeface="Calibri"/>
                          <a:cs typeface="Calibri"/>
                        </a:rPr>
                        <a:t>2015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12.000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7" name="object 147"/>
          <p:cNvSpPr txBox="1"/>
          <p:nvPr/>
        </p:nvSpPr>
        <p:spPr>
          <a:xfrm>
            <a:off x="5733051" y="852423"/>
            <a:ext cx="3154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3:</a:t>
            </a:r>
            <a:r>
              <a:rPr sz="18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Snc</a:t>
            </a:r>
            <a:r>
              <a:rPr sz="1800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due</a:t>
            </a:r>
            <a:r>
              <a:rPr sz="1800" i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</a:t>
            </a:r>
            <a:r>
              <a:rPr sz="1800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60%</a:t>
            </a:r>
            <a:r>
              <a:rPr sz="1800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i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FFFFFF"/>
                </a:solidFill>
                <a:latin typeface="Calibri"/>
                <a:cs typeface="Calibri"/>
              </a:rPr>
              <a:t>40%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24862315-B8D1-EB12-60F7-CE2047B2FB1B}"/>
              </a:ext>
            </a:extLst>
          </p:cNvPr>
          <p:cNvSpPr txBox="1">
            <a:spLocks/>
          </p:cNvSpPr>
          <p:nvPr/>
        </p:nvSpPr>
        <p:spPr bwMode="auto">
          <a:xfrm>
            <a:off x="35767" y="51957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3: Snc due soci al 60% - 40%</a:t>
            </a:r>
          </a:p>
        </p:txBody>
      </p:sp>
      <p:sp>
        <p:nvSpPr>
          <p:cNvPr id="20" name="Segnaposto numero diapositiva 19">
            <a:extLst>
              <a:ext uri="{FF2B5EF4-FFF2-40B4-BE49-F238E27FC236}">
                <a16:creationId xmlns:a16="http://schemas.microsoft.com/office/drawing/2014/main" id="{B11B3683-801E-89D8-3832-0E6B8E98CC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14</a:t>
            </a:fld>
            <a:endParaRPr lang="it-I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498152"/>
              </p:ext>
            </p:extLst>
          </p:nvPr>
        </p:nvGraphicFramePr>
        <p:xfrm>
          <a:off x="172228" y="1469897"/>
          <a:ext cx="8785859" cy="2223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A2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it-IT" sz="1800" spc="-20" dirty="0">
                          <a:latin typeface="Calibri"/>
                          <a:cs typeface="Calibri"/>
                        </a:rPr>
                        <a:t>2019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113.400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120.000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90.000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7" name="object 147"/>
          <p:cNvSpPr txBox="1"/>
          <p:nvPr/>
        </p:nvSpPr>
        <p:spPr>
          <a:xfrm>
            <a:off x="3739660" y="852423"/>
            <a:ext cx="5146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4: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Srl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20%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annullamento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riserve</a:t>
            </a:r>
            <a:r>
              <a:rPr sz="1800" i="1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utili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8" name="object 148"/>
          <p:cNvPicPr/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2480" y="3972559"/>
            <a:ext cx="8796528" cy="2095499"/>
          </a:xfrm>
          <a:prstGeom prst="rect">
            <a:avLst/>
          </a:prstGeom>
        </p:spPr>
      </p:pic>
      <p:sp>
        <p:nvSpPr>
          <p:cNvPr id="26" name="Titolo 1">
            <a:extLst>
              <a:ext uri="{FF2B5EF4-FFF2-40B4-BE49-F238E27FC236}">
                <a16:creationId xmlns:a16="http://schemas.microsoft.com/office/drawing/2014/main" id="{3AC7E9DB-7EF4-CF57-C1C6-500C33A92596}"/>
              </a:ext>
            </a:extLst>
          </p:cNvPr>
          <p:cNvSpPr txBox="1">
            <a:spLocks/>
          </p:cNvSpPr>
          <p:nvPr/>
        </p:nvSpPr>
        <p:spPr bwMode="auto">
          <a:xfrm>
            <a:off x="57158" y="225581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4: </a:t>
            </a:r>
            <a:r>
              <a:rPr kumimoji="0" lang="it-IT" sz="3400" b="0" i="0" u="none" strike="noStrike" kern="0" cap="none" spc="0" normalizeH="0" baseline="0" noProof="0" dirty="0" err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Srl</a:t>
            </a: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 5 soci al 20% con annullamento riserve utili</a:t>
            </a:r>
          </a:p>
        </p:txBody>
      </p:sp>
      <p:sp>
        <p:nvSpPr>
          <p:cNvPr id="27" name="Segnaposto numero diapositiva 26">
            <a:extLst>
              <a:ext uri="{FF2B5EF4-FFF2-40B4-BE49-F238E27FC236}">
                <a16:creationId xmlns:a16="http://schemas.microsoft.com/office/drawing/2014/main" id="{D9BD77C2-0D0A-CB45-B1C6-96F7A93CCE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15</a:t>
            </a:fld>
            <a:endParaRPr lang="it-IT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996011"/>
              </p:ext>
            </p:extLst>
          </p:nvPr>
        </p:nvGraphicFramePr>
        <p:xfrm>
          <a:off x="172228" y="1295400"/>
          <a:ext cx="8785859" cy="2223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Albergo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D2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it-IT" sz="1800" spc="-20" dirty="0">
                          <a:latin typeface="Calibri"/>
                          <a:cs typeface="Calibri"/>
                        </a:rPr>
                        <a:t>1973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756.000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1.170.000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127.500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7" name="object 147"/>
          <p:cNvSpPr txBox="1"/>
          <p:nvPr/>
        </p:nvSpPr>
        <p:spPr>
          <a:xfrm>
            <a:off x="1775225" y="852423"/>
            <a:ext cx="7112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5: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Srl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socio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90%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unico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assegnatario</a:t>
            </a:r>
            <a:r>
              <a:rPr sz="1800" i="1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annullamento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riserve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utili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66386" y="3510025"/>
            <a:ext cx="8810625" cy="2542540"/>
            <a:chOff x="166386" y="3657091"/>
            <a:chExt cx="8810625" cy="2542540"/>
          </a:xfrm>
        </p:grpSpPr>
        <p:pic>
          <p:nvPicPr>
            <p:cNvPr id="149" name="object 149"/>
            <p:cNvPicPr/>
            <p:nvPr/>
          </p:nvPicPr>
          <p:blipFill>
            <a:blip r:embed="rId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2480" y="3657091"/>
              <a:ext cx="8798050" cy="2249423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178578" y="5903467"/>
              <a:ext cx="8785860" cy="281940"/>
            </a:xfrm>
            <a:custGeom>
              <a:avLst/>
              <a:gdLst/>
              <a:ahLst/>
              <a:cxnLst/>
              <a:rect l="l" t="t" r="r" b="b"/>
              <a:pathLst>
                <a:path w="8785860" h="281939">
                  <a:moveTo>
                    <a:pt x="8785856" y="234695"/>
                  </a:moveTo>
                  <a:lnTo>
                    <a:pt x="8785856" y="47243"/>
                  </a:lnTo>
                  <a:lnTo>
                    <a:pt x="8782118" y="28932"/>
                  </a:lnTo>
                  <a:lnTo>
                    <a:pt x="8771950" y="13906"/>
                  </a:lnTo>
                  <a:lnTo>
                    <a:pt x="8756924" y="3738"/>
                  </a:lnTo>
                  <a:lnTo>
                    <a:pt x="8738612" y="0"/>
                  </a:lnTo>
                  <a:lnTo>
                    <a:pt x="47243" y="0"/>
                  </a:lnTo>
                  <a:lnTo>
                    <a:pt x="28932" y="3738"/>
                  </a:lnTo>
                  <a:lnTo>
                    <a:pt x="13906" y="13906"/>
                  </a:lnTo>
                  <a:lnTo>
                    <a:pt x="3738" y="28932"/>
                  </a:lnTo>
                  <a:lnTo>
                    <a:pt x="0" y="47243"/>
                  </a:lnTo>
                  <a:lnTo>
                    <a:pt x="0" y="234695"/>
                  </a:lnTo>
                  <a:lnTo>
                    <a:pt x="3738" y="253007"/>
                  </a:lnTo>
                  <a:lnTo>
                    <a:pt x="13906" y="268033"/>
                  </a:lnTo>
                  <a:lnTo>
                    <a:pt x="28932" y="278201"/>
                  </a:lnTo>
                  <a:lnTo>
                    <a:pt x="47243" y="281939"/>
                  </a:lnTo>
                  <a:lnTo>
                    <a:pt x="8738612" y="281939"/>
                  </a:lnTo>
                  <a:lnTo>
                    <a:pt x="8756924" y="278201"/>
                  </a:lnTo>
                  <a:lnTo>
                    <a:pt x="8771950" y="268033"/>
                  </a:lnTo>
                  <a:lnTo>
                    <a:pt x="8782118" y="253007"/>
                  </a:lnTo>
                  <a:lnTo>
                    <a:pt x="8785856" y="234695"/>
                  </a:lnTo>
                  <a:close/>
                </a:path>
              </a:pathLst>
            </a:custGeom>
            <a:solidFill>
              <a:srgbClr val="9ABA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66386" y="5891276"/>
              <a:ext cx="8810625" cy="307975"/>
            </a:xfrm>
            <a:custGeom>
              <a:avLst/>
              <a:gdLst/>
              <a:ahLst/>
              <a:cxnLst/>
              <a:rect l="l" t="t" r="r" b="b"/>
              <a:pathLst>
                <a:path w="8810625" h="307975">
                  <a:moveTo>
                    <a:pt x="4572" y="269748"/>
                  </a:moveTo>
                  <a:lnTo>
                    <a:pt x="4572" y="38100"/>
                  </a:lnTo>
                  <a:lnTo>
                    <a:pt x="1524" y="45720"/>
                  </a:lnTo>
                  <a:lnTo>
                    <a:pt x="1524" y="47244"/>
                  </a:lnTo>
                  <a:lnTo>
                    <a:pt x="0" y="47244"/>
                  </a:lnTo>
                  <a:lnTo>
                    <a:pt x="0" y="259080"/>
                  </a:lnTo>
                  <a:lnTo>
                    <a:pt x="1524" y="260604"/>
                  </a:lnTo>
                  <a:lnTo>
                    <a:pt x="4572" y="269748"/>
                  </a:lnTo>
                  <a:close/>
                </a:path>
                <a:path w="8810625" h="307975">
                  <a:moveTo>
                    <a:pt x="25908" y="51816"/>
                  </a:moveTo>
                  <a:lnTo>
                    <a:pt x="25908" y="10668"/>
                  </a:lnTo>
                  <a:lnTo>
                    <a:pt x="24384" y="10668"/>
                  </a:lnTo>
                  <a:lnTo>
                    <a:pt x="18288" y="16764"/>
                  </a:lnTo>
                  <a:lnTo>
                    <a:pt x="16764" y="16764"/>
                  </a:lnTo>
                  <a:lnTo>
                    <a:pt x="16764" y="18288"/>
                  </a:lnTo>
                  <a:lnTo>
                    <a:pt x="10668" y="24384"/>
                  </a:lnTo>
                  <a:lnTo>
                    <a:pt x="10668" y="25908"/>
                  </a:lnTo>
                  <a:lnTo>
                    <a:pt x="9144" y="25908"/>
                  </a:lnTo>
                  <a:lnTo>
                    <a:pt x="9144" y="27432"/>
                  </a:lnTo>
                  <a:lnTo>
                    <a:pt x="4572" y="35052"/>
                  </a:lnTo>
                  <a:lnTo>
                    <a:pt x="4572" y="271272"/>
                  </a:lnTo>
                  <a:lnTo>
                    <a:pt x="9144" y="280416"/>
                  </a:lnTo>
                  <a:lnTo>
                    <a:pt x="10668" y="281940"/>
                  </a:lnTo>
                  <a:lnTo>
                    <a:pt x="16764" y="289560"/>
                  </a:lnTo>
                  <a:lnTo>
                    <a:pt x="18288" y="291084"/>
                  </a:lnTo>
                  <a:lnTo>
                    <a:pt x="24384" y="295656"/>
                  </a:lnTo>
                  <a:lnTo>
                    <a:pt x="24384" y="59436"/>
                  </a:lnTo>
                  <a:lnTo>
                    <a:pt x="25908" y="51816"/>
                  </a:lnTo>
                  <a:close/>
                </a:path>
                <a:path w="8810625" h="307975">
                  <a:moveTo>
                    <a:pt x="32004" y="299923"/>
                  </a:moveTo>
                  <a:lnTo>
                    <a:pt x="32004" y="268224"/>
                  </a:lnTo>
                  <a:lnTo>
                    <a:pt x="27432" y="259080"/>
                  </a:lnTo>
                  <a:lnTo>
                    <a:pt x="27432" y="262128"/>
                  </a:lnTo>
                  <a:lnTo>
                    <a:pt x="25908" y="252984"/>
                  </a:lnTo>
                  <a:lnTo>
                    <a:pt x="25908" y="256032"/>
                  </a:lnTo>
                  <a:lnTo>
                    <a:pt x="24384" y="246888"/>
                  </a:lnTo>
                  <a:lnTo>
                    <a:pt x="24384" y="295656"/>
                  </a:lnTo>
                  <a:lnTo>
                    <a:pt x="25908" y="297180"/>
                  </a:lnTo>
                  <a:lnTo>
                    <a:pt x="27432" y="297180"/>
                  </a:lnTo>
                  <a:lnTo>
                    <a:pt x="32004" y="299923"/>
                  </a:lnTo>
                  <a:close/>
                </a:path>
                <a:path w="8810625" h="307975">
                  <a:moveTo>
                    <a:pt x="8784333" y="53340"/>
                  </a:moveTo>
                  <a:lnTo>
                    <a:pt x="8784333" y="9144"/>
                  </a:lnTo>
                  <a:lnTo>
                    <a:pt x="8782809" y="9144"/>
                  </a:lnTo>
                  <a:lnTo>
                    <a:pt x="8775189" y="4572"/>
                  </a:lnTo>
                  <a:lnTo>
                    <a:pt x="8772141" y="4572"/>
                  </a:lnTo>
                  <a:lnTo>
                    <a:pt x="8764521" y="1524"/>
                  </a:lnTo>
                  <a:lnTo>
                    <a:pt x="8761473" y="1524"/>
                  </a:lnTo>
                  <a:lnTo>
                    <a:pt x="8750805" y="0"/>
                  </a:lnTo>
                  <a:lnTo>
                    <a:pt x="57912" y="0"/>
                  </a:lnTo>
                  <a:lnTo>
                    <a:pt x="48768" y="1524"/>
                  </a:lnTo>
                  <a:lnTo>
                    <a:pt x="45339" y="1651"/>
                  </a:lnTo>
                  <a:lnTo>
                    <a:pt x="36576" y="4572"/>
                  </a:lnTo>
                  <a:lnTo>
                    <a:pt x="35052" y="4572"/>
                  </a:lnTo>
                  <a:lnTo>
                    <a:pt x="27432" y="9144"/>
                  </a:lnTo>
                  <a:lnTo>
                    <a:pt x="25908" y="9144"/>
                  </a:lnTo>
                  <a:lnTo>
                    <a:pt x="25908" y="53340"/>
                  </a:lnTo>
                  <a:lnTo>
                    <a:pt x="27432" y="45720"/>
                  </a:lnTo>
                  <a:lnTo>
                    <a:pt x="27432" y="47244"/>
                  </a:lnTo>
                  <a:lnTo>
                    <a:pt x="30480" y="42164"/>
                  </a:lnTo>
                  <a:lnTo>
                    <a:pt x="30480" y="41148"/>
                  </a:lnTo>
                  <a:lnTo>
                    <a:pt x="41148" y="30480"/>
                  </a:lnTo>
                  <a:lnTo>
                    <a:pt x="41148" y="31089"/>
                  </a:lnTo>
                  <a:lnTo>
                    <a:pt x="44196" y="29260"/>
                  </a:lnTo>
                  <a:lnTo>
                    <a:pt x="44196" y="28956"/>
                  </a:lnTo>
                  <a:lnTo>
                    <a:pt x="47244" y="27432"/>
                  </a:lnTo>
                  <a:lnTo>
                    <a:pt x="47244" y="27940"/>
                  </a:lnTo>
                  <a:lnTo>
                    <a:pt x="51816" y="26416"/>
                  </a:lnTo>
                  <a:lnTo>
                    <a:pt x="51816" y="25908"/>
                  </a:lnTo>
                  <a:lnTo>
                    <a:pt x="60960" y="24384"/>
                  </a:lnTo>
                  <a:lnTo>
                    <a:pt x="8758425" y="25908"/>
                  </a:lnTo>
                  <a:lnTo>
                    <a:pt x="8758425" y="26517"/>
                  </a:lnTo>
                  <a:lnTo>
                    <a:pt x="8762997" y="28346"/>
                  </a:lnTo>
                  <a:lnTo>
                    <a:pt x="8762997" y="27432"/>
                  </a:lnTo>
                  <a:lnTo>
                    <a:pt x="8769093" y="31089"/>
                  </a:lnTo>
                  <a:lnTo>
                    <a:pt x="8769093" y="30480"/>
                  </a:lnTo>
                  <a:lnTo>
                    <a:pt x="8779761" y="41148"/>
                  </a:lnTo>
                  <a:lnTo>
                    <a:pt x="8779761" y="42164"/>
                  </a:lnTo>
                  <a:lnTo>
                    <a:pt x="8782809" y="47244"/>
                  </a:lnTo>
                  <a:lnTo>
                    <a:pt x="8782809" y="49530"/>
                  </a:lnTo>
                  <a:lnTo>
                    <a:pt x="8784333" y="53340"/>
                  </a:lnTo>
                  <a:close/>
                </a:path>
                <a:path w="8810625" h="307975">
                  <a:moveTo>
                    <a:pt x="32004" y="39624"/>
                  </a:moveTo>
                  <a:lnTo>
                    <a:pt x="30480" y="41148"/>
                  </a:lnTo>
                  <a:lnTo>
                    <a:pt x="30480" y="42164"/>
                  </a:lnTo>
                  <a:lnTo>
                    <a:pt x="32004" y="39624"/>
                  </a:lnTo>
                  <a:close/>
                </a:path>
                <a:path w="8810625" h="307975">
                  <a:moveTo>
                    <a:pt x="36576" y="272796"/>
                  </a:moveTo>
                  <a:lnTo>
                    <a:pt x="30480" y="265176"/>
                  </a:lnTo>
                  <a:lnTo>
                    <a:pt x="32004" y="268224"/>
                  </a:lnTo>
                  <a:lnTo>
                    <a:pt x="32004" y="299923"/>
                  </a:lnTo>
                  <a:lnTo>
                    <a:pt x="33528" y="300837"/>
                  </a:lnTo>
                  <a:lnTo>
                    <a:pt x="33528" y="271272"/>
                  </a:lnTo>
                  <a:lnTo>
                    <a:pt x="36576" y="272796"/>
                  </a:lnTo>
                  <a:close/>
                </a:path>
                <a:path w="8810625" h="307975">
                  <a:moveTo>
                    <a:pt x="41148" y="275844"/>
                  </a:moveTo>
                  <a:lnTo>
                    <a:pt x="33528" y="271272"/>
                  </a:lnTo>
                  <a:lnTo>
                    <a:pt x="33528" y="300837"/>
                  </a:lnTo>
                  <a:lnTo>
                    <a:pt x="35052" y="301752"/>
                  </a:lnTo>
                  <a:lnTo>
                    <a:pt x="36576" y="303276"/>
                  </a:lnTo>
                  <a:lnTo>
                    <a:pt x="39624" y="303784"/>
                  </a:lnTo>
                  <a:lnTo>
                    <a:pt x="39624" y="275844"/>
                  </a:lnTo>
                  <a:lnTo>
                    <a:pt x="41148" y="275844"/>
                  </a:lnTo>
                  <a:close/>
                </a:path>
                <a:path w="8810625" h="307975">
                  <a:moveTo>
                    <a:pt x="41148" y="31089"/>
                  </a:moveTo>
                  <a:lnTo>
                    <a:pt x="41148" y="30480"/>
                  </a:lnTo>
                  <a:lnTo>
                    <a:pt x="39624" y="32004"/>
                  </a:lnTo>
                  <a:lnTo>
                    <a:pt x="41148" y="31089"/>
                  </a:lnTo>
                  <a:close/>
                </a:path>
                <a:path w="8810625" h="307975">
                  <a:moveTo>
                    <a:pt x="47244" y="278892"/>
                  </a:moveTo>
                  <a:lnTo>
                    <a:pt x="39624" y="275844"/>
                  </a:lnTo>
                  <a:lnTo>
                    <a:pt x="39624" y="303784"/>
                  </a:lnTo>
                  <a:lnTo>
                    <a:pt x="44196" y="304546"/>
                  </a:lnTo>
                  <a:lnTo>
                    <a:pt x="44196" y="278892"/>
                  </a:lnTo>
                  <a:lnTo>
                    <a:pt x="47244" y="278892"/>
                  </a:lnTo>
                  <a:close/>
                </a:path>
                <a:path w="8810625" h="307975">
                  <a:moveTo>
                    <a:pt x="47244" y="27432"/>
                  </a:moveTo>
                  <a:lnTo>
                    <a:pt x="44196" y="28956"/>
                  </a:lnTo>
                  <a:lnTo>
                    <a:pt x="45339" y="28575"/>
                  </a:lnTo>
                  <a:lnTo>
                    <a:pt x="47244" y="27432"/>
                  </a:lnTo>
                  <a:close/>
                </a:path>
                <a:path w="8810625" h="307975">
                  <a:moveTo>
                    <a:pt x="45339" y="28575"/>
                  </a:moveTo>
                  <a:lnTo>
                    <a:pt x="44196" y="28956"/>
                  </a:lnTo>
                  <a:lnTo>
                    <a:pt x="44196" y="29260"/>
                  </a:lnTo>
                  <a:lnTo>
                    <a:pt x="45339" y="28575"/>
                  </a:lnTo>
                  <a:close/>
                </a:path>
                <a:path w="8810625" h="307975">
                  <a:moveTo>
                    <a:pt x="53340" y="306977"/>
                  </a:moveTo>
                  <a:lnTo>
                    <a:pt x="53340" y="281940"/>
                  </a:lnTo>
                  <a:lnTo>
                    <a:pt x="44196" y="278892"/>
                  </a:lnTo>
                  <a:lnTo>
                    <a:pt x="44196" y="304546"/>
                  </a:lnTo>
                  <a:lnTo>
                    <a:pt x="45720" y="304800"/>
                  </a:lnTo>
                  <a:lnTo>
                    <a:pt x="47244" y="306324"/>
                  </a:lnTo>
                  <a:lnTo>
                    <a:pt x="48768" y="306324"/>
                  </a:lnTo>
                  <a:lnTo>
                    <a:pt x="53340" y="306977"/>
                  </a:lnTo>
                  <a:close/>
                </a:path>
                <a:path w="8810625" h="307975">
                  <a:moveTo>
                    <a:pt x="47244" y="27940"/>
                  </a:moveTo>
                  <a:lnTo>
                    <a:pt x="47244" y="27432"/>
                  </a:lnTo>
                  <a:lnTo>
                    <a:pt x="45339" y="28575"/>
                  </a:lnTo>
                  <a:lnTo>
                    <a:pt x="47244" y="27940"/>
                  </a:lnTo>
                  <a:close/>
                </a:path>
                <a:path w="8810625" h="307975">
                  <a:moveTo>
                    <a:pt x="53340" y="25908"/>
                  </a:moveTo>
                  <a:lnTo>
                    <a:pt x="51816" y="25908"/>
                  </a:lnTo>
                  <a:lnTo>
                    <a:pt x="51816" y="26416"/>
                  </a:lnTo>
                  <a:lnTo>
                    <a:pt x="53340" y="25908"/>
                  </a:lnTo>
                  <a:close/>
                </a:path>
                <a:path w="8810625" h="307975">
                  <a:moveTo>
                    <a:pt x="8758425" y="280416"/>
                  </a:moveTo>
                  <a:lnTo>
                    <a:pt x="8749281" y="281940"/>
                  </a:lnTo>
                  <a:lnTo>
                    <a:pt x="59436" y="281940"/>
                  </a:lnTo>
                  <a:lnTo>
                    <a:pt x="51816" y="280416"/>
                  </a:lnTo>
                  <a:lnTo>
                    <a:pt x="53340" y="281940"/>
                  </a:lnTo>
                  <a:lnTo>
                    <a:pt x="53340" y="306977"/>
                  </a:lnTo>
                  <a:lnTo>
                    <a:pt x="59436" y="307848"/>
                  </a:lnTo>
                  <a:lnTo>
                    <a:pt x="8756901" y="306325"/>
                  </a:lnTo>
                  <a:lnTo>
                    <a:pt x="8756901" y="281940"/>
                  </a:lnTo>
                  <a:lnTo>
                    <a:pt x="8758425" y="280416"/>
                  </a:lnTo>
                  <a:close/>
                </a:path>
                <a:path w="8810625" h="307975">
                  <a:moveTo>
                    <a:pt x="8758425" y="26517"/>
                  </a:moveTo>
                  <a:lnTo>
                    <a:pt x="8758425" y="25908"/>
                  </a:lnTo>
                  <a:lnTo>
                    <a:pt x="8756901" y="25908"/>
                  </a:lnTo>
                  <a:lnTo>
                    <a:pt x="8758425" y="26517"/>
                  </a:lnTo>
                  <a:close/>
                </a:path>
                <a:path w="8810625" h="307975">
                  <a:moveTo>
                    <a:pt x="8764521" y="304800"/>
                  </a:moveTo>
                  <a:lnTo>
                    <a:pt x="8764521" y="278892"/>
                  </a:lnTo>
                  <a:lnTo>
                    <a:pt x="8756901" y="281940"/>
                  </a:lnTo>
                  <a:lnTo>
                    <a:pt x="8756901" y="306325"/>
                  </a:lnTo>
                  <a:lnTo>
                    <a:pt x="8762997" y="306324"/>
                  </a:lnTo>
                  <a:lnTo>
                    <a:pt x="8764521" y="304800"/>
                  </a:lnTo>
                  <a:close/>
                </a:path>
                <a:path w="8810625" h="307975">
                  <a:moveTo>
                    <a:pt x="8764521" y="28956"/>
                  </a:moveTo>
                  <a:lnTo>
                    <a:pt x="8762997" y="27432"/>
                  </a:lnTo>
                  <a:lnTo>
                    <a:pt x="8762997" y="28346"/>
                  </a:lnTo>
                  <a:lnTo>
                    <a:pt x="8764521" y="28956"/>
                  </a:lnTo>
                  <a:close/>
                </a:path>
                <a:path w="8810625" h="307975">
                  <a:moveTo>
                    <a:pt x="8770617" y="303580"/>
                  </a:moveTo>
                  <a:lnTo>
                    <a:pt x="8770617" y="275844"/>
                  </a:lnTo>
                  <a:lnTo>
                    <a:pt x="8762997" y="278892"/>
                  </a:lnTo>
                  <a:lnTo>
                    <a:pt x="8764521" y="278892"/>
                  </a:lnTo>
                  <a:lnTo>
                    <a:pt x="8764521" y="304800"/>
                  </a:lnTo>
                  <a:lnTo>
                    <a:pt x="8770617" y="303580"/>
                  </a:lnTo>
                  <a:close/>
                </a:path>
                <a:path w="8810625" h="307975">
                  <a:moveTo>
                    <a:pt x="8770617" y="32004"/>
                  </a:moveTo>
                  <a:lnTo>
                    <a:pt x="8769093" y="30480"/>
                  </a:lnTo>
                  <a:lnTo>
                    <a:pt x="8769093" y="31089"/>
                  </a:lnTo>
                  <a:lnTo>
                    <a:pt x="8770617" y="32004"/>
                  </a:lnTo>
                  <a:close/>
                </a:path>
                <a:path w="8810625" h="307975">
                  <a:moveTo>
                    <a:pt x="8774427" y="271843"/>
                  </a:moveTo>
                  <a:lnTo>
                    <a:pt x="8769093" y="275844"/>
                  </a:lnTo>
                  <a:lnTo>
                    <a:pt x="8770617" y="275844"/>
                  </a:lnTo>
                  <a:lnTo>
                    <a:pt x="8770617" y="303580"/>
                  </a:lnTo>
                  <a:lnTo>
                    <a:pt x="8772141" y="303276"/>
                  </a:lnTo>
                  <a:lnTo>
                    <a:pt x="8773665" y="303276"/>
                  </a:lnTo>
                  <a:lnTo>
                    <a:pt x="8773665" y="272796"/>
                  </a:lnTo>
                  <a:lnTo>
                    <a:pt x="8774427" y="271843"/>
                  </a:lnTo>
                  <a:close/>
                </a:path>
                <a:path w="8810625" h="307975">
                  <a:moveTo>
                    <a:pt x="8775189" y="271272"/>
                  </a:moveTo>
                  <a:lnTo>
                    <a:pt x="8774427" y="271843"/>
                  </a:lnTo>
                  <a:lnTo>
                    <a:pt x="8773665" y="272796"/>
                  </a:lnTo>
                  <a:lnTo>
                    <a:pt x="8775189" y="271272"/>
                  </a:lnTo>
                  <a:close/>
                </a:path>
                <a:path w="8810625" h="307975">
                  <a:moveTo>
                    <a:pt x="8775189" y="301752"/>
                  </a:moveTo>
                  <a:lnTo>
                    <a:pt x="8775189" y="271272"/>
                  </a:lnTo>
                  <a:lnTo>
                    <a:pt x="8773665" y="272796"/>
                  </a:lnTo>
                  <a:lnTo>
                    <a:pt x="8773665" y="301752"/>
                  </a:lnTo>
                  <a:lnTo>
                    <a:pt x="8775189" y="301752"/>
                  </a:lnTo>
                  <a:close/>
                </a:path>
                <a:path w="8810625" h="307975">
                  <a:moveTo>
                    <a:pt x="8779761" y="265176"/>
                  </a:moveTo>
                  <a:lnTo>
                    <a:pt x="8774427" y="271843"/>
                  </a:lnTo>
                  <a:lnTo>
                    <a:pt x="8775189" y="271272"/>
                  </a:lnTo>
                  <a:lnTo>
                    <a:pt x="8775189" y="301752"/>
                  </a:lnTo>
                  <a:lnTo>
                    <a:pt x="8778237" y="299923"/>
                  </a:lnTo>
                  <a:lnTo>
                    <a:pt x="8778237" y="268224"/>
                  </a:lnTo>
                  <a:lnTo>
                    <a:pt x="8779761" y="265176"/>
                  </a:lnTo>
                  <a:close/>
                </a:path>
                <a:path w="8810625" h="307975">
                  <a:moveTo>
                    <a:pt x="8779761" y="42164"/>
                  </a:moveTo>
                  <a:lnTo>
                    <a:pt x="8779761" y="41148"/>
                  </a:lnTo>
                  <a:lnTo>
                    <a:pt x="8778237" y="39624"/>
                  </a:lnTo>
                  <a:lnTo>
                    <a:pt x="8779761" y="42164"/>
                  </a:lnTo>
                  <a:close/>
                </a:path>
                <a:path w="8810625" h="307975">
                  <a:moveTo>
                    <a:pt x="8782809" y="297180"/>
                  </a:moveTo>
                  <a:lnTo>
                    <a:pt x="8782809" y="259080"/>
                  </a:lnTo>
                  <a:lnTo>
                    <a:pt x="8778237" y="268224"/>
                  </a:lnTo>
                  <a:lnTo>
                    <a:pt x="8778237" y="299923"/>
                  </a:lnTo>
                  <a:lnTo>
                    <a:pt x="8782809" y="297180"/>
                  </a:lnTo>
                  <a:close/>
                </a:path>
                <a:path w="8810625" h="307975">
                  <a:moveTo>
                    <a:pt x="8782809" y="49530"/>
                  </a:moveTo>
                  <a:lnTo>
                    <a:pt x="8782809" y="47244"/>
                  </a:lnTo>
                  <a:lnTo>
                    <a:pt x="8781285" y="45720"/>
                  </a:lnTo>
                  <a:lnTo>
                    <a:pt x="8782809" y="49530"/>
                  </a:lnTo>
                  <a:close/>
                </a:path>
                <a:path w="8810625" h="307975">
                  <a:moveTo>
                    <a:pt x="8784333" y="297180"/>
                  </a:moveTo>
                  <a:lnTo>
                    <a:pt x="8784333" y="252984"/>
                  </a:lnTo>
                  <a:lnTo>
                    <a:pt x="8781285" y="262128"/>
                  </a:lnTo>
                  <a:lnTo>
                    <a:pt x="8782809" y="259080"/>
                  </a:lnTo>
                  <a:lnTo>
                    <a:pt x="8782809" y="297180"/>
                  </a:lnTo>
                  <a:lnTo>
                    <a:pt x="8784333" y="297180"/>
                  </a:lnTo>
                  <a:close/>
                </a:path>
                <a:path w="8810625" h="307975">
                  <a:moveTo>
                    <a:pt x="8805669" y="271272"/>
                  </a:moveTo>
                  <a:lnTo>
                    <a:pt x="8805669" y="35052"/>
                  </a:lnTo>
                  <a:lnTo>
                    <a:pt x="8801097" y="27432"/>
                  </a:lnTo>
                  <a:lnTo>
                    <a:pt x="8801097" y="25908"/>
                  </a:lnTo>
                  <a:lnTo>
                    <a:pt x="8799573" y="25908"/>
                  </a:lnTo>
                  <a:lnTo>
                    <a:pt x="8799573" y="24384"/>
                  </a:lnTo>
                  <a:lnTo>
                    <a:pt x="8791953" y="16764"/>
                  </a:lnTo>
                  <a:lnTo>
                    <a:pt x="8784333" y="10668"/>
                  </a:lnTo>
                  <a:lnTo>
                    <a:pt x="8784333" y="295656"/>
                  </a:lnTo>
                  <a:lnTo>
                    <a:pt x="8791953" y="291084"/>
                  </a:lnTo>
                  <a:lnTo>
                    <a:pt x="8791953" y="289560"/>
                  </a:lnTo>
                  <a:lnTo>
                    <a:pt x="8793477" y="289560"/>
                  </a:lnTo>
                  <a:lnTo>
                    <a:pt x="8799573" y="281940"/>
                  </a:lnTo>
                  <a:lnTo>
                    <a:pt x="8801097" y="280416"/>
                  </a:lnTo>
                  <a:lnTo>
                    <a:pt x="8805669" y="271272"/>
                  </a:lnTo>
                  <a:close/>
                </a:path>
                <a:path w="8810625" h="307975">
                  <a:moveTo>
                    <a:pt x="8808717" y="260604"/>
                  </a:moveTo>
                  <a:lnTo>
                    <a:pt x="8808717" y="45720"/>
                  </a:lnTo>
                  <a:lnTo>
                    <a:pt x="8805669" y="38100"/>
                  </a:lnTo>
                  <a:lnTo>
                    <a:pt x="8805669" y="269748"/>
                  </a:lnTo>
                  <a:lnTo>
                    <a:pt x="8808717" y="260604"/>
                  </a:lnTo>
                  <a:close/>
                </a:path>
                <a:path w="8810625" h="307975">
                  <a:moveTo>
                    <a:pt x="8810241" y="246888"/>
                  </a:moveTo>
                  <a:lnTo>
                    <a:pt x="8810241" y="57912"/>
                  </a:lnTo>
                  <a:lnTo>
                    <a:pt x="8808717" y="48768"/>
                  </a:lnTo>
                  <a:lnTo>
                    <a:pt x="8808717" y="257556"/>
                  </a:lnTo>
                  <a:lnTo>
                    <a:pt x="8810241" y="246888"/>
                  </a:lnTo>
                  <a:close/>
                </a:path>
              </a:pathLst>
            </a:custGeom>
            <a:solidFill>
              <a:srgbClr val="7088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397525" y="5733031"/>
            <a:ext cx="8348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All’altro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socio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andranno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distribuiti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dividendi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Euro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130.000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1.170.000/90%-1.170.000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Titolo 1">
            <a:extLst>
              <a:ext uri="{FF2B5EF4-FFF2-40B4-BE49-F238E27FC236}">
                <a16:creationId xmlns:a16="http://schemas.microsoft.com/office/drawing/2014/main" id="{377FDEE8-B447-25CF-14C9-D1211298D5FE}"/>
              </a:ext>
            </a:extLst>
          </p:cNvPr>
          <p:cNvSpPr txBox="1">
            <a:spLocks/>
          </p:cNvSpPr>
          <p:nvPr/>
        </p:nvSpPr>
        <p:spPr bwMode="auto">
          <a:xfrm>
            <a:off x="56666" y="168885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5: </a:t>
            </a:r>
            <a:r>
              <a:rPr kumimoji="0" lang="it-IT" sz="3400" b="0" i="0" u="none" strike="noStrike" kern="0" cap="none" spc="0" normalizeH="0" baseline="0" noProof="0" dirty="0" err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Srl</a:t>
            </a: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 2 socio al 90% unico assegnatario con annullamento riserve utili</a:t>
            </a:r>
          </a:p>
        </p:txBody>
      </p:sp>
      <p:sp>
        <p:nvSpPr>
          <p:cNvPr id="27" name="Segnaposto numero diapositiva 26">
            <a:extLst>
              <a:ext uri="{FF2B5EF4-FFF2-40B4-BE49-F238E27FC236}">
                <a16:creationId xmlns:a16="http://schemas.microsoft.com/office/drawing/2014/main" id="{2068E9C9-BA1F-2563-C248-F2D1AB7676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16</a:t>
            </a:fld>
            <a:endParaRPr lang="it-I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38963"/>
              </p:ext>
            </p:extLst>
          </p:nvPr>
        </p:nvGraphicFramePr>
        <p:xfrm>
          <a:off x="172228" y="1295400"/>
          <a:ext cx="8785859" cy="2463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Negozio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C1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it-IT" sz="1200" spc="-20" dirty="0">
                          <a:latin typeface="Calibri"/>
                          <a:cs typeface="Calibri"/>
                        </a:rPr>
                        <a:t>2018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179.928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260.000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Assegnazione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260.000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166.500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Manutenzioni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2011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37.800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partecipazione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200.000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7" name="object 147"/>
          <p:cNvSpPr txBox="1"/>
          <p:nvPr/>
        </p:nvSpPr>
        <p:spPr>
          <a:xfrm>
            <a:off x="4975624" y="852423"/>
            <a:ext cx="3912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6: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Srl</a:t>
            </a:r>
            <a:r>
              <a:rPr sz="1800" i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unip.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i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vista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futura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vendita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8" name="object 148"/>
          <p:cNvPicPr/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937" y="3880567"/>
            <a:ext cx="8798050" cy="2095499"/>
          </a:xfrm>
          <a:prstGeom prst="rect">
            <a:avLst/>
          </a:prstGeom>
        </p:spPr>
      </p:pic>
      <p:sp>
        <p:nvSpPr>
          <p:cNvPr id="26" name="Titolo 1">
            <a:extLst>
              <a:ext uri="{FF2B5EF4-FFF2-40B4-BE49-F238E27FC236}">
                <a16:creationId xmlns:a16="http://schemas.microsoft.com/office/drawing/2014/main" id="{F79B8A16-F00B-DE9E-E7FE-849EE8AEE3EE}"/>
              </a:ext>
            </a:extLst>
          </p:cNvPr>
          <p:cNvSpPr txBox="1">
            <a:spLocks/>
          </p:cNvSpPr>
          <p:nvPr/>
        </p:nvSpPr>
        <p:spPr bwMode="auto">
          <a:xfrm>
            <a:off x="65120" y="36859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6: </a:t>
            </a:r>
            <a:r>
              <a:rPr kumimoji="0" lang="it-IT" sz="3400" b="0" i="0" u="none" strike="noStrike" kern="0" cap="none" spc="0" normalizeH="0" baseline="0" noProof="0" dirty="0" err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Srl</a:t>
            </a: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 </a:t>
            </a:r>
            <a:r>
              <a:rPr kumimoji="0" lang="it-IT" sz="3400" b="0" i="0" u="none" strike="noStrike" kern="0" cap="none" spc="0" normalizeH="0" baseline="0" noProof="0" dirty="0" err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unip</a:t>
            </a: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. i</a:t>
            </a:r>
            <a:r>
              <a:rPr lang="it-IT" dirty="0">
                <a:solidFill>
                  <a:srgbClr val="009999"/>
                </a:solidFill>
                <a:latin typeface="Tahoma"/>
              </a:rPr>
              <a:t>n vista di futura vendita</a:t>
            </a:r>
            <a:endParaRPr kumimoji="0" lang="it-IT" sz="3400" b="0" i="0" u="none" strike="noStrike" kern="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/>
              <a:ea typeface="+mj-ea"/>
              <a:cs typeface="+mj-cs"/>
            </a:endParaRPr>
          </a:p>
        </p:txBody>
      </p:sp>
      <p:sp>
        <p:nvSpPr>
          <p:cNvPr id="27" name="Segnaposto numero diapositiva 26">
            <a:extLst>
              <a:ext uri="{FF2B5EF4-FFF2-40B4-BE49-F238E27FC236}">
                <a16:creationId xmlns:a16="http://schemas.microsoft.com/office/drawing/2014/main" id="{85EC7B5F-FDB9-AD12-56A1-8BF870091D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17</a:t>
            </a:fld>
            <a:endParaRPr lang="it-IT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143503"/>
              </p:ext>
            </p:extLst>
          </p:nvPr>
        </p:nvGraphicFramePr>
        <p:xfrm>
          <a:off x="172228" y="1143000"/>
          <a:ext cx="8785859" cy="2463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Negozio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C1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it-IT" sz="1200" spc="-20" dirty="0">
                          <a:latin typeface="Calibri"/>
                          <a:cs typeface="Calibri"/>
                        </a:rPr>
                        <a:t>2018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179.928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260.000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Assegnazione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260.000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166.500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Manutenzioni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2011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37.800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partecipazione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100.000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7" name="object 147"/>
          <p:cNvSpPr txBox="1"/>
          <p:nvPr/>
        </p:nvSpPr>
        <p:spPr>
          <a:xfrm>
            <a:off x="4975624" y="852423"/>
            <a:ext cx="3912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6: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Srl</a:t>
            </a:r>
            <a:r>
              <a:rPr sz="1800" i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unip.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i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vista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futura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vendita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8" name="object 148"/>
          <p:cNvPicPr/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2480" y="3731005"/>
            <a:ext cx="8796528" cy="2253996"/>
          </a:xfrm>
          <a:prstGeom prst="rect">
            <a:avLst/>
          </a:prstGeom>
        </p:spPr>
      </p:pic>
      <p:sp>
        <p:nvSpPr>
          <p:cNvPr id="149" name="Titolo 1">
            <a:extLst>
              <a:ext uri="{FF2B5EF4-FFF2-40B4-BE49-F238E27FC236}">
                <a16:creationId xmlns:a16="http://schemas.microsoft.com/office/drawing/2014/main" id="{DFB592BC-6F97-D545-7F59-41FA68F4FB20}"/>
              </a:ext>
            </a:extLst>
          </p:cNvPr>
          <p:cNvSpPr txBox="1">
            <a:spLocks/>
          </p:cNvSpPr>
          <p:nvPr/>
        </p:nvSpPr>
        <p:spPr bwMode="auto">
          <a:xfrm>
            <a:off x="37322" y="-51677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6: </a:t>
            </a:r>
            <a:r>
              <a:rPr kumimoji="0" lang="it-IT" sz="3400" b="0" i="0" u="none" strike="noStrike" kern="0" cap="none" spc="0" normalizeH="0" baseline="0" noProof="0" dirty="0" err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Srl</a:t>
            </a: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 </a:t>
            </a:r>
            <a:r>
              <a:rPr kumimoji="0" lang="it-IT" sz="3400" b="0" i="0" u="none" strike="noStrike" kern="0" cap="none" spc="0" normalizeH="0" baseline="0" noProof="0" dirty="0" err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unip</a:t>
            </a: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. In vista di futura vendita</a:t>
            </a:r>
          </a:p>
        </p:txBody>
      </p:sp>
      <p:sp>
        <p:nvSpPr>
          <p:cNvPr id="152" name="Segnaposto numero diapositiva 151">
            <a:extLst>
              <a:ext uri="{FF2B5EF4-FFF2-40B4-BE49-F238E27FC236}">
                <a16:creationId xmlns:a16="http://schemas.microsoft.com/office/drawing/2014/main" id="{80566566-0405-94ED-C2AC-B11CB0C70A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18</a:t>
            </a:fld>
            <a:endParaRPr lang="it-IT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object 144"/>
          <p:cNvSpPr txBox="1"/>
          <p:nvPr/>
        </p:nvSpPr>
        <p:spPr>
          <a:xfrm>
            <a:off x="536214" y="1828800"/>
            <a:ext cx="3714750" cy="28784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grado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elasticità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degli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impieghi</a:t>
            </a:r>
            <a:endParaRPr sz="1800">
              <a:latin typeface="Calibri"/>
              <a:cs typeface="Calibri"/>
            </a:endParaRPr>
          </a:p>
          <a:p>
            <a:pPr marL="354965" marR="911225" indent="-342900">
              <a:lnSpc>
                <a:spcPct val="100000"/>
              </a:lnSpc>
              <a:spcBef>
                <a:spcPts val="434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grado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copertura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delle </a:t>
            </a:r>
            <a:r>
              <a:rPr sz="1800" spc="-10" dirty="0">
                <a:latin typeface="Calibri"/>
                <a:cs typeface="Calibri"/>
              </a:rPr>
              <a:t>immobilizzazioni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I&lt;PN)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ROI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(specie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casi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plusvalenza</a:t>
            </a:r>
            <a:endParaRPr sz="18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…)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Ammortamenti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Costi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IMU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Costi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società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comodo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4724164" y="1828800"/>
            <a:ext cx="3613785" cy="194563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grado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indipendenza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finanziaria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Leverage</a:t>
            </a:r>
            <a:endParaRPr sz="1800">
              <a:latin typeface="Calibri"/>
              <a:cs typeface="Calibri"/>
            </a:endParaRPr>
          </a:p>
          <a:p>
            <a:pPr marL="354965" marR="810260" indent="-342900">
              <a:lnSpc>
                <a:spcPct val="100000"/>
              </a:lnSpc>
              <a:spcBef>
                <a:spcPts val="4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grado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copertura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delle </a:t>
            </a:r>
            <a:r>
              <a:rPr sz="1800" spc="-10" dirty="0">
                <a:latin typeface="Calibri"/>
                <a:cs typeface="Calibri"/>
              </a:rPr>
              <a:t>immobilizzazioni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I&gt;PN)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ROE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perdita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Deduzione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ACE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6" name="object 1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2867" y="4875786"/>
            <a:ext cx="1286255" cy="973836"/>
          </a:xfrm>
          <a:prstGeom prst="rect">
            <a:avLst/>
          </a:prstGeom>
        </p:spPr>
      </p:pic>
      <p:pic>
        <p:nvPicPr>
          <p:cNvPr id="147" name="object 14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6895" y="4875786"/>
            <a:ext cx="1301496" cy="949452"/>
          </a:xfrm>
          <a:prstGeom prst="rect">
            <a:avLst/>
          </a:prstGeom>
        </p:spPr>
      </p:pic>
      <p:sp>
        <p:nvSpPr>
          <p:cNvPr id="148" name="Titolo 1">
            <a:extLst>
              <a:ext uri="{FF2B5EF4-FFF2-40B4-BE49-F238E27FC236}">
                <a16:creationId xmlns:a16="http://schemas.microsoft.com/office/drawing/2014/main" id="{A32BE93A-0679-7E1F-76D8-E1AE04B9F700}"/>
              </a:ext>
            </a:extLst>
          </p:cNvPr>
          <p:cNvSpPr txBox="1">
            <a:spLocks/>
          </p:cNvSpPr>
          <p:nvPr/>
        </p:nvSpPr>
        <p:spPr bwMode="auto">
          <a:xfrm>
            <a:off x="57158" y="304800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L’assegnazione riduce patrimonio netto e immobili quindi</a:t>
            </a:r>
          </a:p>
        </p:txBody>
      </p:sp>
      <p:sp>
        <p:nvSpPr>
          <p:cNvPr id="149" name="Segnaposto numero diapositiva 148">
            <a:extLst>
              <a:ext uri="{FF2B5EF4-FFF2-40B4-BE49-F238E27FC236}">
                <a16:creationId xmlns:a16="http://schemas.microsoft.com/office/drawing/2014/main" id="{1C7C4A0E-4D39-6972-1A39-5C9CB10011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19</a:t>
            </a:fld>
            <a:endParaRPr lang="it-IT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7275339" y="852423"/>
            <a:ext cx="1611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Attenti</a:t>
            </a:r>
            <a:r>
              <a:rPr sz="1800" i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rating!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48" name="object 148"/>
          <p:cNvGraphicFramePr>
            <a:graphicFrameLocks noGrp="1"/>
          </p:cNvGraphicFramePr>
          <p:nvPr/>
        </p:nvGraphicFramePr>
        <p:xfrm>
          <a:off x="1153189" y="1767713"/>
          <a:ext cx="6958965" cy="355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8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8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114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ATT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85"/>
                        </a:spcBef>
                        <a:tabLst>
                          <a:tab pos="1379855" algn="l"/>
                        </a:tabLst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IVO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PASSIVO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4290" marR="120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AI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70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PN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dirty="0">
                          <a:latin typeface="Calibri"/>
                          <a:cs typeface="Calibri"/>
                        </a:rPr>
                        <a:t>Ind</a:t>
                      </a:r>
                      <a:r>
                        <a:rPr sz="1600" i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25" dirty="0">
                          <a:latin typeface="Calibri"/>
                          <a:cs typeface="Calibri"/>
                        </a:rPr>
                        <a:t>Fin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31%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4290" marR="120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AC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DL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spc="-10" dirty="0">
                          <a:latin typeface="Calibri"/>
                          <a:cs typeface="Calibri"/>
                        </a:rPr>
                        <a:t>Leverage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2,2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DB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dirty="0">
                          <a:latin typeface="Calibri"/>
                          <a:cs typeface="Calibri"/>
                        </a:rPr>
                        <a:t>Cop.</a:t>
                      </a:r>
                      <a:r>
                        <a:rPr sz="1600" i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Imm.</a:t>
                      </a:r>
                      <a:r>
                        <a:rPr sz="1600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Con</a:t>
                      </a:r>
                      <a:r>
                        <a:rPr sz="1600" i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25" dirty="0">
                          <a:latin typeface="Calibri"/>
                          <a:cs typeface="Calibri"/>
                        </a:rPr>
                        <a:t>CP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71%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dirty="0">
                          <a:latin typeface="Calibri"/>
                          <a:cs typeface="Calibri"/>
                        </a:rPr>
                        <a:t>Cop.</a:t>
                      </a:r>
                      <a:r>
                        <a:rPr sz="1600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Imm. II</a:t>
                      </a:r>
                      <a:r>
                        <a:rPr sz="1600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CON</a:t>
                      </a:r>
                      <a:r>
                        <a:rPr sz="1600" i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Cap</a:t>
                      </a:r>
                      <a:r>
                        <a:rPr sz="1600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25" dirty="0">
                          <a:latin typeface="Calibri"/>
                          <a:cs typeface="Calibri"/>
                        </a:rPr>
                        <a:t>ml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86%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385">
                <a:tc gridSpan="3"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Assegna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immobile</a:t>
                      </a:r>
                      <a:r>
                        <a:rPr sz="16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al</a:t>
                      </a:r>
                      <a:r>
                        <a:rPr sz="160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val.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cont.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40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49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ATT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85"/>
                        </a:spcBef>
                        <a:tabLst>
                          <a:tab pos="1379855" algn="l"/>
                        </a:tabLst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IVO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PASSIVO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4290" marR="120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AI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30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PN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dirty="0">
                          <a:latin typeface="Calibri"/>
                          <a:cs typeface="Calibri"/>
                        </a:rPr>
                        <a:t>Ind</a:t>
                      </a:r>
                      <a:r>
                        <a:rPr sz="1600" i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25" dirty="0">
                          <a:latin typeface="Calibri"/>
                          <a:cs typeface="Calibri"/>
                        </a:rPr>
                        <a:t>Fin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8%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4290" marR="120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AC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DL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spc="-10" dirty="0">
                          <a:latin typeface="Calibri"/>
                          <a:cs typeface="Calibri"/>
                        </a:rPr>
                        <a:t>Leverage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11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DB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dirty="0">
                          <a:latin typeface="Calibri"/>
                          <a:cs typeface="Calibri"/>
                        </a:rPr>
                        <a:t>Cop.</a:t>
                      </a:r>
                      <a:r>
                        <a:rPr sz="1600" i="1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20" dirty="0">
                          <a:latin typeface="Calibri"/>
                          <a:cs typeface="Calibri"/>
                        </a:rPr>
                        <a:t>Imm.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33%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dirty="0">
                          <a:latin typeface="Calibri"/>
                          <a:cs typeface="Calibri"/>
                        </a:rPr>
                        <a:t>Cop.</a:t>
                      </a:r>
                      <a:r>
                        <a:rPr sz="1600" i="1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Imm.</a:t>
                      </a:r>
                      <a:r>
                        <a:rPr sz="1600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25" dirty="0">
                          <a:latin typeface="Calibri"/>
                          <a:cs typeface="Calibri"/>
                        </a:rPr>
                        <a:t>II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67%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49" name="Titolo 1">
            <a:extLst>
              <a:ext uri="{FF2B5EF4-FFF2-40B4-BE49-F238E27FC236}">
                <a16:creationId xmlns:a16="http://schemas.microsoft.com/office/drawing/2014/main" id="{E7C062A4-71D8-6C01-5FE2-1D7BD71949F7}"/>
              </a:ext>
            </a:extLst>
          </p:cNvPr>
          <p:cNvSpPr txBox="1">
            <a:spLocks/>
          </p:cNvSpPr>
          <p:nvPr/>
        </p:nvSpPr>
        <p:spPr bwMode="auto">
          <a:xfrm>
            <a:off x="117830" y="95898"/>
            <a:ext cx="8624074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Attenti al rating!</a:t>
            </a:r>
          </a:p>
        </p:txBody>
      </p:sp>
      <p:sp>
        <p:nvSpPr>
          <p:cNvPr id="150" name="Segnaposto numero diapositiva 149">
            <a:extLst>
              <a:ext uri="{FF2B5EF4-FFF2-40B4-BE49-F238E27FC236}">
                <a16:creationId xmlns:a16="http://schemas.microsoft.com/office/drawing/2014/main" id="{787ECE8A-95A9-F61A-D98A-79F3E18A9E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20</a:t>
            </a:fld>
            <a:endParaRPr lang="it-IT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persona, uomo, mangiando&#10;&#10;Descrizione generata automaticamente">
            <a:extLst>
              <a:ext uri="{FF2B5EF4-FFF2-40B4-BE49-F238E27FC236}">
                <a16:creationId xmlns:a16="http://schemas.microsoft.com/office/drawing/2014/main" id="{41137FE2-CA7F-DC4B-5395-C4494D123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76400"/>
            <a:ext cx="2248725" cy="2445489"/>
          </a:xfrm>
          <a:prstGeom prst="rect">
            <a:avLst/>
          </a:prstGeom>
        </p:spPr>
      </p:pic>
      <p:pic>
        <p:nvPicPr>
          <p:cNvPr id="7" name="object 150">
            <a:extLst>
              <a:ext uri="{FF2B5EF4-FFF2-40B4-BE49-F238E27FC236}">
                <a16:creationId xmlns:a16="http://schemas.microsoft.com/office/drawing/2014/main" id="{6293EAA4-4F30-7FBC-DB04-6E26D0A109DB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1676400"/>
            <a:ext cx="4767071" cy="210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442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c014026-a0ef-45dc-9ca9-ac355db24e99" xsi:nil="true"/>
    <lcf76f155ced4ddcb4097134ff3c332f xmlns="77a3f60d-3740-4b8f-aea2-18b203205ea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B2E99503D3AD4DA2231F0D240043DD" ma:contentTypeVersion="19" ma:contentTypeDescription="Creare un nuovo documento." ma:contentTypeScope="" ma:versionID="5d22b860b2d7b05646517e191754a185">
  <xsd:schema xmlns:xsd="http://www.w3.org/2001/XMLSchema" xmlns:xs="http://www.w3.org/2001/XMLSchema" xmlns:p="http://schemas.microsoft.com/office/2006/metadata/properties" xmlns:ns2="77a3f60d-3740-4b8f-aea2-18b203205ead" xmlns:ns3="6c014026-a0ef-45dc-9ca9-ac355db24e99" targetNamespace="http://schemas.microsoft.com/office/2006/metadata/properties" ma:root="true" ma:fieldsID="c3ef981538194d0481c402a9a66d521d" ns2:_="" ns3:_="">
    <xsd:import namespace="77a3f60d-3740-4b8f-aea2-18b203205ead"/>
    <xsd:import namespace="6c014026-a0ef-45dc-9ca9-ac355db24e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a3f60d-3740-4b8f-aea2-18b203205e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Tag immagine" ma:readOnly="false" ma:fieldId="{5cf76f15-5ced-4ddc-b409-7134ff3c332f}" ma:taxonomyMulti="true" ma:sspId="bbff36a2-fd21-4e1e-a182-03a870c089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014026-a0ef-45dc-9ca9-ac355db24e9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c17ed12-4c7d-4ce0-86b8-91d9357e9166}" ma:internalName="TaxCatchAll" ma:showField="CatchAllData" ma:web="6c014026-a0ef-45dc-9ca9-ac355db24e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3554C1-3C8B-449E-8C1B-0791576F2F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1F0120-7C5C-4C56-AC99-8249A5DCC995}">
  <ds:schemaRefs>
    <ds:schemaRef ds:uri="http://schemas.microsoft.com/office/2006/metadata/properties"/>
    <ds:schemaRef ds:uri="http://schemas.microsoft.com/office/infopath/2007/PartnerControls"/>
    <ds:schemaRef ds:uri="6c014026-a0ef-45dc-9ca9-ac355db24e99"/>
    <ds:schemaRef ds:uri="77a3f60d-3740-4b8f-aea2-18b203205ead"/>
  </ds:schemaRefs>
</ds:datastoreItem>
</file>

<file path=customXml/itemProps3.xml><?xml version="1.0" encoding="utf-8"?>
<ds:datastoreItem xmlns:ds="http://schemas.openxmlformats.org/officeDocument/2006/customXml" ds:itemID="{8B0DF874-4094-4110-A9EA-55F55F9BBFE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1297</Words>
  <Application>Microsoft Office PowerPoint</Application>
  <PresentationFormat>Presentazione su schermo (4:3)</PresentationFormat>
  <Paragraphs>443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9" baseType="lpstr">
      <vt:lpstr>Calibri</vt:lpstr>
      <vt:lpstr>Courier New</vt:lpstr>
      <vt:lpstr>Forte</vt:lpstr>
      <vt:lpstr>Georgia</vt:lpstr>
      <vt:lpstr>Tahoma</vt:lpstr>
      <vt:lpstr>Times New Roman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SlidesMattavelli - CTel20160720.pptx</dc:title>
  <dc:creator>Alessandro</dc:creator>
  <cp:lastModifiedBy>Alessandro Pastore</cp:lastModifiedBy>
  <cp:revision>5</cp:revision>
  <dcterms:created xsi:type="dcterms:W3CDTF">2023-07-04T10:39:40Z</dcterms:created>
  <dcterms:modified xsi:type="dcterms:W3CDTF">2025-03-19T14:42:32Z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2016-07-21T00:00:00Z</vt:filetime>
  </property>
  <property fmtid="{D5CDD505-2E9C-101B-9397-08002B2CF9AE}" pid="3" name="Creator">
    <vt:lpwstr>Bullzip PDF Printer (10.6.0.2267)</vt:lpwstr>
  </property>
  <property fmtid="{D5CDD505-2E9C-101B-9397-08002B2CF9AE}" pid="4" name="LastSaved">
    <vt:filetime>2023-07-04T00:00:00Z</vt:filetime>
  </property>
  <property fmtid="{D5CDD505-2E9C-101B-9397-08002B2CF9AE}" pid="5" name="Producer">
    <vt:lpwstr>PDF Printer / www.bullzip.com / FPG / Freeware Edition (max 10 users)</vt:lpwstr>
  </property>
  <property fmtid="{D5CDD505-2E9C-101B-9397-08002B2CF9AE}" pid="6" name="ContentTypeId">
    <vt:lpwstr>0x01010049B2E99503D3AD4DA2231F0D240043DD</vt:lpwstr>
  </property>
  <property fmtid="{D5CDD505-2E9C-101B-9397-08002B2CF9AE}" pid="7" name="MediaServiceImageTags">
    <vt:lpwstr/>
  </property>
</Properties>
</file>